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Maven Pro Bold" charset="1" panose="00000800000000000000"/>
      <p:regular r:id="rId26"/>
    </p:embeddedFont>
    <p:embeddedFont>
      <p:font typeface="Maven Pro" charset="1" panose="00000500000000000000"/>
      <p:regular r:id="rId27"/>
    </p:embeddedFont>
    <p:embeddedFont>
      <p:font typeface="Open Sans" charset="1" panose="020B060603050402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embeddings/oleObject1.bin" Type="http://schemas.openxmlformats.org/officeDocument/2006/relationships/oleObject"/><Relationship Id="rId4" Target="../media/image15.png" Type="http://schemas.openxmlformats.org/officeDocument/2006/relationships/image"/><Relationship Id="rId5" Target="../embeddings/oleObject2.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2587820" y="3743805"/>
            <a:ext cx="13112360" cy="2212975"/>
          </a:xfrm>
          <a:prstGeom prst="rect">
            <a:avLst/>
          </a:prstGeom>
        </p:spPr>
        <p:txBody>
          <a:bodyPr anchor="t" rtlCol="false" tIns="0" lIns="0" bIns="0" rIns="0">
            <a:spAutoFit/>
          </a:bodyPr>
          <a:lstStyle/>
          <a:p>
            <a:pPr algn="ctr">
              <a:lnSpc>
                <a:spcPts val="5599"/>
              </a:lnSpc>
            </a:pPr>
            <a:r>
              <a:rPr lang="en-US" b="true" sz="6999">
                <a:solidFill>
                  <a:srgbClr val="252930"/>
                </a:solidFill>
                <a:latin typeface="Maven Pro Bold"/>
                <a:ea typeface="Maven Pro Bold"/>
                <a:cs typeface="Maven Pro Bold"/>
                <a:sym typeface="Maven Pro Bold"/>
              </a:rPr>
              <a:t>GE</a:t>
            </a:r>
            <a:r>
              <a:rPr lang="en-US" b="true" sz="6999">
                <a:solidFill>
                  <a:srgbClr val="252930"/>
                </a:solidFill>
                <a:latin typeface="Maven Pro Bold"/>
                <a:ea typeface="Maven Pro Bold"/>
                <a:cs typeface="Maven Pro Bold"/>
                <a:sym typeface="Maven Pro Bold"/>
              </a:rPr>
              <a:t>NERATIVE SIMULATION:</a:t>
            </a:r>
          </a:p>
          <a:p>
            <a:pPr algn="ctr">
              <a:lnSpc>
                <a:spcPts val="5599"/>
              </a:lnSpc>
            </a:pPr>
            <a:r>
              <a:rPr lang="en-US" b="true" sz="6999">
                <a:solidFill>
                  <a:srgbClr val="252930"/>
                </a:solidFill>
                <a:latin typeface="Maven Pro Bold"/>
                <a:ea typeface="Maven Pro Bold"/>
                <a:cs typeface="Maven Pro Bold"/>
                <a:sym typeface="Maven Pro Bold"/>
              </a:rPr>
              <a:t> AN AGENTIC FRAMEWORK FOR WEB PLANNING</a:t>
            </a:r>
          </a:p>
        </p:txBody>
      </p:sp>
      <p:sp>
        <p:nvSpPr>
          <p:cNvPr name="Freeform 3" id="3"/>
          <p:cNvSpPr/>
          <p:nvPr/>
        </p:nvSpPr>
        <p:spPr>
          <a:xfrm flipH="true" flipV="false" rot="0">
            <a:off x="-211950" y="-104775"/>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8039083"/>
            <a:ext cx="516220" cy="2057400"/>
          </a:xfrm>
          <a:custGeom>
            <a:avLst/>
            <a:gdLst/>
            <a:ahLst/>
            <a:cxnLst/>
            <a:rect r="r" b="b" t="t" l="l"/>
            <a:pathLst>
              <a:path h="2057400" w="51622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657548" y="293921"/>
            <a:ext cx="516220" cy="2057400"/>
          </a:xfrm>
          <a:custGeom>
            <a:avLst/>
            <a:gdLst/>
            <a:ahLst/>
            <a:cxnLst/>
            <a:rect r="r" b="b" t="t" l="l"/>
            <a:pathLst>
              <a:path h="2057400" w="51622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28700" y="9077308"/>
            <a:ext cx="2716317" cy="1358159"/>
          </a:xfrm>
          <a:custGeom>
            <a:avLst/>
            <a:gdLst/>
            <a:ahLst/>
            <a:cxnLst/>
            <a:rect r="r" b="b" t="t" l="l"/>
            <a:pathLst>
              <a:path h="1358159" w="2716317">
                <a:moveTo>
                  <a:pt x="0" y="0"/>
                </a:moveTo>
                <a:lnTo>
                  <a:pt x="2716317" y="0"/>
                </a:lnTo>
                <a:lnTo>
                  <a:pt x="2716317" y="1358159"/>
                </a:lnTo>
                <a:lnTo>
                  <a:pt x="0" y="1358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4542983" y="-104775"/>
            <a:ext cx="2716317" cy="1358159"/>
          </a:xfrm>
          <a:custGeom>
            <a:avLst/>
            <a:gdLst/>
            <a:ahLst/>
            <a:cxnLst/>
            <a:rect r="r" b="b" t="t" l="l"/>
            <a:pathLst>
              <a:path h="1358159" w="2716317">
                <a:moveTo>
                  <a:pt x="0" y="1358159"/>
                </a:moveTo>
                <a:lnTo>
                  <a:pt x="2716317" y="1358159"/>
                </a:lnTo>
                <a:lnTo>
                  <a:pt x="2716317" y="0"/>
                </a:lnTo>
                <a:lnTo>
                  <a:pt x="0" y="0"/>
                </a:lnTo>
                <a:lnTo>
                  <a:pt x="0" y="135815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6642342" y="370731"/>
            <a:ext cx="5161148" cy="1980591"/>
          </a:xfrm>
          <a:custGeom>
            <a:avLst/>
            <a:gdLst/>
            <a:ahLst/>
            <a:cxnLst/>
            <a:rect r="r" b="b" t="t" l="l"/>
            <a:pathLst>
              <a:path h="1980591" w="5161148">
                <a:moveTo>
                  <a:pt x="0" y="0"/>
                </a:moveTo>
                <a:lnTo>
                  <a:pt x="5161149" y="0"/>
                </a:lnTo>
                <a:lnTo>
                  <a:pt x="5161149" y="1980590"/>
                </a:lnTo>
                <a:lnTo>
                  <a:pt x="0" y="1980590"/>
                </a:lnTo>
                <a:lnTo>
                  <a:pt x="0" y="0"/>
                </a:lnTo>
                <a:close/>
              </a:path>
            </a:pathLst>
          </a:custGeom>
          <a:blipFill>
            <a:blip r:embed="rId8"/>
            <a:stretch>
              <a:fillRect l="0" t="0" r="0" b="0"/>
            </a:stretch>
          </a:blipFill>
        </p:spPr>
      </p:sp>
      <p:sp>
        <p:nvSpPr>
          <p:cNvPr name="TextBox 9" id="9"/>
          <p:cNvSpPr txBox="true"/>
          <p:nvPr/>
        </p:nvSpPr>
        <p:spPr>
          <a:xfrm rot="0">
            <a:off x="4111449" y="6013930"/>
            <a:ext cx="10065101" cy="2617350"/>
          </a:xfrm>
          <a:prstGeom prst="rect">
            <a:avLst/>
          </a:prstGeom>
        </p:spPr>
        <p:txBody>
          <a:bodyPr anchor="t" rtlCol="false" tIns="0" lIns="0" bIns="0" rIns="0">
            <a:spAutoFit/>
          </a:bodyPr>
          <a:lstStyle/>
          <a:p>
            <a:pPr algn="ctr">
              <a:lnSpc>
                <a:spcPts val="3461"/>
              </a:lnSpc>
            </a:pPr>
            <a:r>
              <a:rPr lang="en-US" sz="3461">
                <a:solidFill>
                  <a:srgbClr val="252930"/>
                </a:solidFill>
                <a:latin typeface="Maven Pro"/>
                <a:ea typeface="Maven Pro"/>
                <a:cs typeface="Maven Pro"/>
                <a:sym typeface="Maven Pro"/>
              </a:rPr>
              <a:t>Sudarshan N Sankaran</a:t>
            </a:r>
            <a:r>
              <a:rPr lang="en-US" sz="3461">
                <a:solidFill>
                  <a:srgbClr val="252930"/>
                </a:solidFill>
                <a:latin typeface="Maven Pro"/>
                <a:ea typeface="Maven Pro"/>
                <a:cs typeface="Maven Pro"/>
                <a:sym typeface="Maven Pro"/>
              </a:rPr>
              <a:t> - 22BCE1045</a:t>
            </a:r>
          </a:p>
          <a:p>
            <a:pPr algn="ctr">
              <a:lnSpc>
                <a:spcPts val="3461"/>
              </a:lnSpc>
            </a:pPr>
            <a:r>
              <a:rPr lang="en-US" sz="3461">
                <a:solidFill>
                  <a:srgbClr val="252930"/>
                </a:solidFill>
                <a:latin typeface="Maven Pro"/>
                <a:ea typeface="Maven Pro"/>
                <a:cs typeface="Maven Pro"/>
                <a:sym typeface="Maven Pro"/>
              </a:rPr>
              <a:t>Rishab Naveen - 22BLC1098</a:t>
            </a:r>
          </a:p>
          <a:p>
            <a:pPr algn="ctr">
              <a:lnSpc>
                <a:spcPts val="3461"/>
              </a:lnSpc>
            </a:pPr>
            <a:r>
              <a:rPr lang="en-US" sz="3461">
                <a:solidFill>
                  <a:srgbClr val="252930"/>
                </a:solidFill>
                <a:latin typeface="Maven Pro"/>
                <a:ea typeface="Maven Pro"/>
                <a:cs typeface="Maven Pro"/>
                <a:sym typeface="Maven Pro"/>
              </a:rPr>
              <a:t>Tanushree Chowdhury - 22BLC1077</a:t>
            </a:r>
          </a:p>
          <a:p>
            <a:pPr algn="ctr">
              <a:lnSpc>
                <a:spcPts val="3461"/>
              </a:lnSpc>
            </a:pPr>
          </a:p>
          <a:p>
            <a:pPr algn="ctr">
              <a:lnSpc>
                <a:spcPts val="3461"/>
              </a:lnSpc>
            </a:pPr>
            <a:r>
              <a:rPr lang="en-US" sz="3461">
                <a:solidFill>
                  <a:srgbClr val="252930"/>
                </a:solidFill>
                <a:latin typeface="Maven Pro"/>
                <a:ea typeface="Maven Pro"/>
                <a:cs typeface="Maven Pro"/>
                <a:sym typeface="Maven Pro"/>
              </a:rPr>
              <a:t>Guide - Dr. Karmel A (SCOPE)</a:t>
            </a:r>
          </a:p>
          <a:p>
            <a:pPr algn="ctr">
              <a:lnSpc>
                <a:spcPts val="3461"/>
              </a:lnSpc>
            </a:pPr>
          </a:p>
        </p:txBody>
      </p:sp>
      <p:sp>
        <p:nvSpPr>
          <p:cNvPr name="TextBox 10" id="10"/>
          <p:cNvSpPr txBox="true"/>
          <p:nvPr/>
        </p:nvSpPr>
        <p:spPr>
          <a:xfrm rot="0">
            <a:off x="6149456" y="2603187"/>
            <a:ext cx="5650310" cy="1021715"/>
          </a:xfrm>
          <a:prstGeom prst="rect">
            <a:avLst/>
          </a:prstGeom>
        </p:spPr>
        <p:txBody>
          <a:bodyPr anchor="t" rtlCol="false" tIns="0" lIns="0" bIns="0" rIns="0">
            <a:spAutoFit/>
          </a:bodyPr>
          <a:lstStyle/>
          <a:p>
            <a:pPr algn="ctr">
              <a:lnSpc>
                <a:spcPts val="5459"/>
              </a:lnSpc>
            </a:pPr>
            <a:r>
              <a:rPr lang="en-US" sz="3900">
                <a:solidFill>
                  <a:srgbClr val="252930"/>
                </a:solidFill>
                <a:latin typeface="Open Sans"/>
                <a:ea typeface="Open Sans"/>
                <a:cs typeface="Open Sans"/>
                <a:sym typeface="Open Sans"/>
              </a:rPr>
              <a:t>Project-II Panel Review-2</a:t>
            </a:r>
          </a:p>
          <a:p>
            <a:pPr algn="ctr">
              <a:lnSpc>
                <a:spcPts val="2659"/>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E3E6E0"/>
        </a:solidFill>
      </p:bgPr>
    </p:bg>
    <p:spTree>
      <p:nvGrpSpPr>
        <p:cNvPr id="1" name=""/>
        <p:cNvGrpSpPr/>
        <p:nvPr/>
      </p:nvGrpSpPr>
      <p:grpSpPr>
        <a:xfrm>
          <a:off x="0" y="0"/>
          <a:ext cx="0" cy="0"/>
          <a:chOff x="0" y="0"/>
          <a:chExt cx="0" cy="0"/>
        </a:xfrm>
      </p:grpSpPr>
    </p:spTree>
  </p:cSld>
  <p:clrMapOvr>
    <a:masterClrMapping/>
  </p:clrMapOvr>
  <p:transition spd="slow">
    <p:cover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1481752" y="2005746"/>
            <a:ext cx="14929823" cy="1598659"/>
          </a:xfrm>
          <a:prstGeom prst="rect">
            <a:avLst/>
          </a:prstGeom>
        </p:spPr>
        <p:txBody>
          <a:bodyPr anchor="t" rtlCol="false" tIns="0" lIns="0" bIns="0" rIns="0">
            <a:spAutoFit/>
          </a:bodyPr>
          <a:lstStyle/>
          <a:p>
            <a:pPr algn="ctr">
              <a:lnSpc>
                <a:spcPts val="6384"/>
              </a:lnSpc>
            </a:pPr>
            <a:r>
              <a:rPr lang="en-US" b="true" sz="4560">
                <a:solidFill>
                  <a:srgbClr val="252D37"/>
                </a:solidFill>
                <a:latin typeface="Maven Pro Bold"/>
                <a:ea typeface="Maven Pro Bold"/>
                <a:cs typeface="Maven Pro Bold"/>
                <a:sym typeface="Maven Pro Bold"/>
              </a:rPr>
              <a:t>Th</a:t>
            </a:r>
            <a:r>
              <a:rPr lang="en-US" b="true" sz="4560">
                <a:solidFill>
                  <a:srgbClr val="252D37"/>
                </a:solidFill>
                <a:latin typeface="Maven Pro Bold"/>
                <a:ea typeface="Maven Pro Bold"/>
                <a:cs typeface="Maven Pro Bold"/>
                <a:sym typeface="Maven Pro Bold"/>
              </a:rPr>
              <a:t>e Problem with Current Web Agents</a:t>
            </a:r>
          </a:p>
          <a:p>
            <a:pPr algn="ctr">
              <a:lnSpc>
                <a:spcPts val="6384"/>
              </a:lnSpc>
            </a:pPr>
          </a:p>
        </p:txBody>
      </p:sp>
      <p:sp>
        <p:nvSpPr>
          <p:cNvPr name="TextBox 3" id="3"/>
          <p:cNvSpPr txBox="true"/>
          <p:nvPr/>
        </p:nvSpPr>
        <p:spPr>
          <a:xfrm rot="0">
            <a:off x="3575171" y="1012824"/>
            <a:ext cx="11137657" cy="920751"/>
          </a:xfrm>
          <a:prstGeom prst="rect">
            <a:avLst/>
          </a:prstGeom>
        </p:spPr>
        <p:txBody>
          <a:bodyPr anchor="t" rtlCol="false" tIns="0" lIns="0" bIns="0" rIns="0">
            <a:spAutoFit/>
          </a:bodyPr>
          <a:lstStyle/>
          <a:p>
            <a:pPr algn="ctr">
              <a:lnSpc>
                <a:spcPts val="6400"/>
              </a:lnSpc>
            </a:pPr>
            <a:r>
              <a:rPr lang="en-US" b="true" sz="8000">
                <a:solidFill>
                  <a:srgbClr val="252D37"/>
                </a:solidFill>
                <a:latin typeface="Maven Pro Bold"/>
                <a:ea typeface="Maven Pro Bold"/>
                <a:cs typeface="Maven Pro Bold"/>
                <a:sym typeface="Maven Pro Bold"/>
              </a:rPr>
              <a:t>INTRODUCTION</a:t>
            </a:r>
          </a:p>
        </p:txBody>
      </p:sp>
      <p:sp>
        <p:nvSpPr>
          <p:cNvPr name="TextBox 4" id="4"/>
          <p:cNvSpPr txBox="true"/>
          <p:nvPr/>
        </p:nvSpPr>
        <p:spPr>
          <a:xfrm rot="0">
            <a:off x="0" y="2786025"/>
            <a:ext cx="9927567" cy="7849525"/>
          </a:xfrm>
          <a:prstGeom prst="rect">
            <a:avLst/>
          </a:prstGeom>
        </p:spPr>
        <p:txBody>
          <a:bodyPr anchor="t" rtlCol="false" tIns="0" lIns="0" bIns="0" rIns="0">
            <a:spAutoFit/>
          </a:bodyPr>
          <a:lstStyle/>
          <a:p>
            <a:pPr algn="l" marL="639840" indent="-319920" lvl="1">
              <a:lnSpc>
                <a:spcPts val="4149"/>
              </a:lnSpc>
              <a:buFont typeface="Arial"/>
              <a:buChar char="•"/>
            </a:pPr>
            <a:r>
              <a:rPr lang="en-US" sz="2963">
                <a:solidFill>
                  <a:srgbClr val="252D37"/>
                </a:solidFill>
                <a:latin typeface="Maven Pro"/>
                <a:ea typeface="Maven Pro"/>
                <a:cs typeface="Maven Pro"/>
                <a:sym typeface="Maven Pro"/>
              </a:rPr>
              <a:t>Current LLM-based web agents operate in a reactive loop of Reason, Act, and Observe.</a:t>
            </a:r>
          </a:p>
          <a:p>
            <a:pPr algn="l" marL="639840" indent="-319920" lvl="1">
              <a:lnSpc>
                <a:spcPts val="4149"/>
              </a:lnSpc>
              <a:buFont typeface="Arial"/>
              <a:buChar char="•"/>
            </a:pPr>
            <a:r>
              <a:rPr lang="en-US" sz="2963">
                <a:solidFill>
                  <a:srgbClr val="252D37"/>
                </a:solidFill>
                <a:latin typeface="Maven Pro"/>
                <a:ea typeface="Maven Pro"/>
                <a:cs typeface="Maven Pro"/>
                <a:sym typeface="Maven Pro"/>
              </a:rPr>
              <a:t>They must interact with the real web to learn outcomes.</a:t>
            </a:r>
          </a:p>
          <a:p>
            <a:pPr algn="l" marL="639840" indent="-319920" lvl="1">
              <a:lnSpc>
                <a:spcPts val="4149"/>
              </a:lnSpc>
              <a:buFont typeface="Arial"/>
              <a:buChar char="•"/>
            </a:pPr>
            <a:r>
              <a:rPr lang="en-US" sz="2963">
                <a:solidFill>
                  <a:srgbClr val="252D37"/>
                </a:solidFill>
                <a:latin typeface="Maven Pro"/>
                <a:ea typeface="Maven Pro"/>
                <a:cs typeface="Maven Pro"/>
                <a:sym typeface="Maven Pro"/>
              </a:rPr>
              <a:t>Traditional model-based </a:t>
            </a:r>
            <a:r>
              <a:rPr lang="en-US" sz="2963">
                <a:solidFill>
                  <a:srgbClr val="252D37"/>
                </a:solidFill>
                <a:latin typeface="Maven Pro"/>
                <a:ea typeface="Maven Pro"/>
                <a:cs typeface="Maven Pro"/>
                <a:sym typeface="Maven Pro"/>
              </a:rPr>
              <a:t>agents </a:t>
            </a:r>
            <a:r>
              <a:rPr lang="en-US" sz="2963">
                <a:solidFill>
                  <a:srgbClr val="252D37"/>
                </a:solidFill>
                <a:latin typeface="Maven Pro"/>
                <a:ea typeface="Maven Pro"/>
                <a:cs typeface="Maven Pro"/>
                <a:sym typeface="Maven Pro"/>
              </a:rPr>
              <a:t>lack the ability to reason</a:t>
            </a:r>
            <a:r>
              <a:rPr lang="en-US" sz="2963">
                <a:solidFill>
                  <a:srgbClr val="252D37"/>
                </a:solidFill>
                <a:latin typeface="Maven Pro"/>
                <a:ea typeface="Maven Pro"/>
                <a:cs typeface="Maven Pro"/>
                <a:sym typeface="Maven Pro"/>
              </a:rPr>
              <a:t> about consequences before acting.</a:t>
            </a:r>
          </a:p>
          <a:p>
            <a:pPr algn="l" marL="639840" indent="-319920" lvl="1">
              <a:lnSpc>
                <a:spcPts val="4149"/>
              </a:lnSpc>
              <a:buFont typeface="Arial"/>
              <a:buChar char="•"/>
            </a:pPr>
            <a:r>
              <a:rPr lang="en-US" sz="2963">
                <a:solidFill>
                  <a:srgbClr val="252D37"/>
                </a:solidFill>
                <a:latin typeface="Maven Pro"/>
                <a:ea typeface="Maven Pro"/>
                <a:cs typeface="Maven Pro"/>
                <a:sym typeface="Maven Pro"/>
              </a:rPr>
              <a:t>Because they cannot internally simulate outcomes, they rely entirely on slow and inefficient real-world feedback.</a:t>
            </a:r>
          </a:p>
          <a:p>
            <a:pPr algn="l" marL="639840" indent="-319920" lvl="1">
              <a:lnSpc>
                <a:spcPts val="4149"/>
              </a:lnSpc>
              <a:buFont typeface="Arial"/>
              <a:buChar char="•"/>
            </a:pPr>
            <a:r>
              <a:rPr lang="en-US" sz="2963">
                <a:solidFill>
                  <a:srgbClr val="252D37"/>
                </a:solidFill>
                <a:latin typeface="Maven Pro"/>
                <a:ea typeface="Maven Pro"/>
                <a:cs typeface="Maven Pro"/>
                <a:sym typeface="Maven Pro"/>
              </a:rPr>
              <a:t>This creates severe safety risks, leav</a:t>
            </a:r>
            <a:r>
              <a:rPr lang="en-US" sz="2963">
                <a:solidFill>
                  <a:srgbClr val="252D37"/>
                </a:solidFill>
                <a:latin typeface="Maven Pro"/>
                <a:ea typeface="Maven Pro"/>
                <a:cs typeface="Maven Pro"/>
                <a:sym typeface="Maven Pro"/>
              </a:rPr>
              <a:t>i</a:t>
            </a:r>
            <a:r>
              <a:rPr lang="en-US" sz="2963">
                <a:solidFill>
                  <a:srgbClr val="252D37"/>
                </a:solidFill>
                <a:latin typeface="Maven Pro"/>
                <a:ea typeface="Maven Pro"/>
                <a:cs typeface="Maven Pro"/>
                <a:sym typeface="Maven Pro"/>
              </a:rPr>
              <a:t>n</a:t>
            </a:r>
            <a:r>
              <a:rPr lang="en-US" sz="2963">
                <a:solidFill>
                  <a:srgbClr val="252D37"/>
                </a:solidFill>
                <a:latin typeface="Maven Pro"/>
                <a:ea typeface="Maven Pro"/>
                <a:cs typeface="Maven Pro"/>
                <a:sym typeface="Maven Pro"/>
              </a:rPr>
              <a:t>g</a:t>
            </a:r>
            <a:r>
              <a:rPr lang="en-US" sz="2963">
                <a:solidFill>
                  <a:srgbClr val="252D37"/>
                </a:solidFill>
                <a:latin typeface="Maven Pro"/>
                <a:ea typeface="Maven Pro"/>
                <a:cs typeface="Maven Pro"/>
                <a:sym typeface="Maven Pro"/>
              </a:rPr>
              <a:t> t</a:t>
            </a:r>
            <a:r>
              <a:rPr lang="en-US" sz="2963">
                <a:solidFill>
                  <a:srgbClr val="252D37"/>
                </a:solidFill>
                <a:latin typeface="Maven Pro"/>
                <a:ea typeface="Maven Pro"/>
                <a:cs typeface="Maven Pro"/>
                <a:sym typeface="Maven Pro"/>
              </a:rPr>
              <a:t>h</a:t>
            </a:r>
            <a:r>
              <a:rPr lang="en-US" sz="2963">
                <a:solidFill>
                  <a:srgbClr val="252D37"/>
                </a:solidFill>
                <a:latin typeface="Maven Pro"/>
                <a:ea typeface="Maven Pro"/>
                <a:cs typeface="Maven Pro"/>
                <a:sym typeface="Maven Pro"/>
              </a:rPr>
              <a:t>em</a:t>
            </a:r>
            <a:r>
              <a:rPr lang="en-US" sz="2963">
                <a:solidFill>
                  <a:srgbClr val="252D37"/>
                </a:solidFill>
                <a:latin typeface="Maven Pro"/>
                <a:ea typeface="Maven Pro"/>
                <a:cs typeface="Maven Pro"/>
                <a:sym typeface="Maven Pro"/>
              </a:rPr>
              <a:t> vulnerable</a:t>
            </a:r>
            <a:r>
              <a:rPr lang="en-US" sz="2963">
                <a:solidFill>
                  <a:srgbClr val="252D37"/>
                </a:solidFill>
                <a:latin typeface="Maven Pro"/>
                <a:ea typeface="Maven Pro"/>
                <a:cs typeface="Maven Pro"/>
                <a:sym typeface="Maven Pro"/>
              </a:rPr>
              <a:t> to phishing pages, malicious downloads, and dark patterns.</a:t>
            </a:r>
          </a:p>
          <a:p>
            <a:pPr algn="l" marL="639840" indent="-319920" lvl="1">
              <a:lnSpc>
                <a:spcPts val="4149"/>
              </a:lnSpc>
              <a:buFont typeface="Arial"/>
              <a:buChar char="•"/>
            </a:pPr>
            <a:r>
              <a:rPr lang="en-US" sz="2963">
                <a:solidFill>
                  <a:srgbClr val="252D37"/>
                </a:solidFill>
                <a:latin typeface="Maven Pro"/>
                <a:ea typeface="Maven Pro"/>
                <a:cs typeface="Maven Pro"/>
                <a:sym typeface="Maven Pro"/>
              </a:rPr>
              <a:t>Reactive agents have poor </a:t>
            </a:r>
            <a:r>
              <a:rPr lang="en-US" sz="2963">
                <a:solidFill>
                  <a:srgbClr val="252D37"/>
                </a:solidFill>
                <a:latin typeface="Maven Pro"/>
                <a:ea typeface="Maven Pro"/>
                <a:cs typeface="Maven Pro"/>
                <a:sym typeface="Maven Pro"/>
              </a:rPr>
              <a:t>reliability</a:t>
            </a:r>
            <a:r>
              <a:rPr lang="en-US" sz="2963">
                <a:solidFill>
                  <a:srgbClr val="252D37"/>
                </a:solidFill>
                <a:latin typeface="Maven Pro"/>
                <a:ea typeface="Maven Pro"/>
                <a:cs typeface="Maven Pro"/>
                <a:sym typeface="Maven Pro"/>
              </a:rPr>
              <a:t>, frequently repeating mistakes and getting stuck in loops.</a:t>
            </a:r>
          </a:p>
          <a:p>
            <a:pPr algn="ctr">
              <a:lnSpc>
                <a:spcPts val="4149"/>
              </a:lnSpc>
              <a:spcBef>
                <a:spcPct val="0"/>
              </a:spcBef>
            </a:pPr>
          </a:p>
        </p:txBody>
      </p:sp>
      <p:sp>
        <p:nvSpPr>
          <p:cNvPr name="Freeform 5" id="5"/>
          <p:cNvSpPr/>
          <p:nvPr/>
        </p:nvSpPr>
        <p:spPr>
          <a:xfrm flipH="false" flipV="false" rot="0">
            <a:off x="9768006" y="3604405"/>
            <a:ext cx="8676459" cy="5780691"/>
          </a:xfrm>
          <a:custGeom>
            <a:avLst/>
            <a:gdLst/>
            <a:ahLst/>
            <a:cxnLst/>
            <a:rect r="r" b="b" t="t" l="l"/>
            <a:pathLst>
              <a:path h="5780691" w="8676459">
                <a:moveTo>
                  <a:pt x="0" y="0"/>
                </a:moveTo>
                <a:lnTo>
                  <a:pt x="8676459" y="0"/>
                </a:lnTo>
                <a:lnTo>
                  <a:pt x="8676459" y="5780690"/>
                </a:lnTo>
                <a:lnTo>
                  <a:pt x="0" y="5780690"/>
                </a:lnTo>
                <a:lnTo>
                  <a:pt x="0" y="0"/>
                </a:lnTo>
                <a:close/>
              </a:path>
            </a:pathLst>
          </a:custGeom>
          <a:blipFill>
            <a:blip r:embed="rId2"/>
            <a:stretch>
              <a:fillRect l="0" t="0" r="0" b="0"/>
            </a:stretch>
          </a:blipFill>
        </p:spPr>
      </p:sp>
    </p:spTree>
  </p:cSld>
  <p:clrMapOvr>
    <a:masterClrMapping/>
  </p:clrMapOvr>
  <p:transition spd="slow">
    <p:cover dir="l"/>
  </p:transition>
</p:sld>
</file>

<file path=ppt/slides/slide4.xml><?xml version="1.0" encoding="utf-8"?>
<p:sld xmlns:p="http://schemas.openxmlformats.org/presentationml/2006/main" xmlns:a="http://schemas.openxmlformats.org/drawingml/2006/main">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1150368" y="3055495"/>
            <a:ext cx="16501378" cy="2610196"/>
          </a:xfrm>
          <a:prstGeom prst="rect">
            <a:avLst/>
          </a:prstGeom>
        </p:spPr>
        <p:txBody>
          <a:bodyPr anchor="t" rtlCol="false" tIns="0" lIns="0" bIns="0" rIns="0">
            <a:spAutoFit/>
          </a:bodyPr>
          <a:lstStyle/>
          <a:p>
            <a:pPr algn="ctr">
              <a:lnSpc>
                <a:spcPts val="4180"/>
              </a:lnSpc>
            </a:pPr>
            <a:r>
              <a:rPr lang="en-US" sz="2986">
                <a:solidFill>
                  <a:srgbClr val="252930"/>
                </a:solidFill>
                <a:latin typeface="Maven Pro"/>
                <a:ea typeface="Maven Pro"/>
                <a:cs typeface="Maven Pro"/>
                <a:sym typeface="Maven Pro"/>
              </a:rPr>
              <a:t>The core objective of</a:t>
            </a:r>
            <a:r>
              <a:rPr lang="en-US" sz="2986">
                <a:solidFill>
                  <a:srgbClr val="252930"/>
                </a:solidFill>
                <a:latin typeface="Maven Pro"/>
                <a:ea typeface="Maven Pro"/>
                <a:cs typeface="Maven Pro"/>
                <a:sym typeface="Maven Pro"/>
              </a:rPr>
              <a:t> this project is to transform traditional web automation from a purely reactive process into a deliberative, planning-based system. We propose a model-based, safety-aware, and self-correcting web agent architecture. Instead of relying on trial-and-error in a live browser, this system anticipates risks and outcomes internally, preventing harmful actions before they occur.</a:t>
            </a:r>
          </a:p>
        </p:txBody>
      </p:sp>
      <p:sp>
        <p:nvSpPr>
          <p:cNvPr name="TextBox 3" id="3"/>
          <p:cNvSpPr txBox="true"/>
          <p:nvPr/>
        </p:nvSpPr>
        <p:spPr>
          <a:xfrm rot="0">
            <a:off x="2506664" y="906019"/>
            <a:ext cx="13274671" cy="1730376"/>
          </a:xfrm>
          <a:prstGeom prst="rect">
            <a:avLst/>
          </a:prstGeom>
        </p:spPr>
        <p:txBody>
          <a:bodyPr anchor="t" rtlCol="false" tIns="0" lIns="0" bIns="0" rIns="0">
            <a:spAutoFit/>
          </a:bodyPr>
          <a:lstStyle/>
          <a:p>
            <a:pPr algn="ctr">
              <a:lnSpc>
                <a:spcPts val="6400"/>
              </a:lnSpc>
            </a:pPr>
            <a:r>
              <a:rPr lang="en-US" b="true" sz="8000">
                <a:solidFill>
                  <a:srgbClr val="252930"/>
                </a:solidFill>
                <a:latin typeface="Maven Pro Bold"/>
                <a:ea typeface="Maven Pro Bold"/>
                <a:cs typeface="Maven Pro Bold"/>
                <a:sym typeface="Maven Pro Bold"/>
              </a:rPr>
              <a:t> PROJECT OBJECTIVES &amp; PROPOSED SOLUTION</a:t>
            </a:r>
          </a:p>
        </p:txBody>
      </p:sp>
      <p:sp>
        <p:nvSpPr>
          <p:cNvPr name="TextBox 4" id="4"/>
          <p:cNvSpPr txBox="true"/>
          <p:nvPr/>
        </p:nvSpPr>
        <p:spPr>
          <a:xfrm rot="0">
            <a:off x="1028700" y="5787154"/>
            <a:ext cx="15716486" cy="4032715"/>
          </a:xfrm>
          <a:prstGeom prst="rect">
            <a:avLst/>
          </a:prstGeom>
        </p:spPr>
        <p:txBody>
          <a:bodyPr anchor="t" rtlCol="false" tIns="0" lIns="0" bIns="0" rIns="0">
            <a:spAutoFit/>
          </a:bodyPr>
          <a:lstStyle/>
          <a:p>
            <a:pPr algn="l" marL="616758" indent="-308379" lvl="1">
              <a:lnSpc>
                <a:spcPts val="3999"/>
              </a:lnSpc>
              <a:buFont typeface="Arial"/>
              <a:buChar char="•"/>
            </a:pPr>
            <a:r>
              <a:rPr lang="en-US" b="true" sz="2856">
                <a:solidFill>
                  <a:srgbClr val="252930"/>
                </a:solidFill>
                <a:latin typeface="Maven Pro Bold"/>
                <a:ea typeface="Maven Pro Bold"/>
                <a:cs typeface="Maven Pro Bold"/>
                <a:sym typeface="Maven Pro Bold"/>
              </a:rPr>
              <a:t>World Model (Counterfactual Planning):</a:t>
            </a:r>
            <a:r>
              <a:rPr lang="en-US" sz="2856">
                <a:solidFill>
                  <a:srgbClr val="252930"/>
                </a:solidFill>
                <a:latin typeface="Maven Pro"/>
                <a:ea typeface="Maven Pro"/>
                <a:cs typeface="Maven Pro"/>
                <a:sym typeface="Maven Pro"/>
              </a:rPr>
              <a:t> An LLM-driven engine that simulates likely future web states and structural changes before any physical click or keystroke is executed.</a:t>
            </a:r>
          </a:p>
          <a:p>
            <a:pPr algn="l" marL="616758" indent="-308379" lvl="1">
              <a:lnSpc>
                <a:spcPts val="3999"/>
              </a:lnSpc>
              <a:buFont typeface="Arial"/>
              <a:buChar char="•"/>
            </a:pPr>
            <a:r>
              <a:rPr lang="en-US" b="true" sz="2856">
                <a:solidFill>
                  <a:srgbClr val="252930"/>
                </a:solidFill>
                <a:latin typeface="Maven Pro Bold"/>
                <a:ea typeface="Maven Pro Bold"/>
                <a:cs typeface="Maven Pro Bold"/>
                <a:sym typeface="Maven Pro Bold"/>
              </a:rPr>
              <a:t>Sentinel Module (Risk-Aware Filtering):</a:t>
            </a:r>
            <a:r>
              <a:rPr lang="en-US" sz="2856">
                <a:solidFill>
                  <a:srgbClr val="252930"/>
                </a:solidFill>
                <a:latin typeface="Maven Pro"/>
                <a:ea typeface="Maven Pro"/>
                <a:cs typeface="Maven Pro"/>
                <a:sym typeface="Maven Pro"/>
              </a:rPr>
              <a:t> A proactive cybersecurity gatekeeper that analyzes those simulated futures to block unsafe paths, such as deceptive UI patterns or phishing forms.</a:t>
            </a:r>
          </a:p>
          <a:p>
            <a:pPr algn="l" marL="616758" indent="-308379" lvl="1">
              <a:lnSpc>
                <a:spcPts val="3999"/>
              </a:lnSpc>
              <a:buFont typeface="Arial"/>
              <a:buChar char="•"/>
            </a:pPr>
            <a:r>
              <a:rPr lang="en-US" b="true" sz="2856">
                <a:solidFill>
                  <a:srgbClr val="252930"/>
                </a:solidFill>
                <a:latin typeface="Maven Pro Bold"/>
                <a:ea typeface="Maven Pro Bold"/>
                <a:cs typeface="Maven Pro Bold"/>
                <a:sym typeface="Maven Pro Bold"/>
              </a:rPr>
              <a:t>Reflexion Module (Online Error Recovery):</a:t>
            </a:r>
            <a:r>
              <a:rPr lang="en-US" sz="2856">
                <a:solidFill>
                  <a:srgbClr val="252930"/>
                </a:solidFill>
                <a:latin typeface="Maven Pro"/>
                <a:ea typeface="Maven Pro"/>
                <a:cs typeface="Maven Pro"/>
                <a:sym typeface="Maven Pro"/>
              </a:rPr>
              <a:t> A learning mechanism that compares the simulated prediction against the actual web result, using any discrepancies to update the agent's memory and avoid repeating mistakes.</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Freeform 2" id="2"/>
          <p:cNvSpPr/>
          <p:nvPr/>
        </p:nvSpPr>
        <p:spPr>
          <a:xfrm flipH="false" flipV="false" rot="0">
            <a:off x="2472645" y="1554223"/>
            <a:ext cx="13342709" cy="8355872"/>
          </a:xfrm>
          <a:custGeom>
            <a:avLst/>
            <a:gdLst/>
            <a:ahLst/>
            <a:cxnLst/>
            <a:rect r="r" b="b" t="t" l="l"/>
            <a:pathLst>
              <a:path h="8355872" w="13342709">
                <a:moveTo>
                  <a:pt x="0" y="0"/>
                </a:moveTo>
                <a:lnTo>
                  <a:pt x="13342710" y="0"/>
                </a:lnTo>
                <a:lnTo>
                  <a:pt x="13342710" y="8355872"/>
                </a:lnTo>
                <a:lnTo>
                  <a:pt x="0" y="8355872"/>
                </a:lnTo>
                <a:lnTo>
                  <a:pt x="0" y="0"/>
                </a:lnTo>
                <a:close/>
              </a:path>
            </a:pathLst>
          </a:custGeom>
          <a:blipFill>
            <a:blip r:embed="rId2"/>
            <a:stretch>
              <a:fillRect l="0" t="0" r="0" b="0"/>
            </a:stretch>
          </a:blipFill>
        </p:spPr>
      </p:sp>
      <p:sp>
        <p:nvSpPr>
          <p:cNvPr name="TextBox 3" id="3"/>
          <p:cNvSpPr txBox="true"/>
          <p:nvPr/>
        </p:nvSpPr>
        <p:spPr>
          <a:xfrm rot="0">
            <a:off x="2472645" y="656558"/>
            <a:ext cx="12871614" cy="652329"/>
          </a:xfrm>
          <a:prstGeom prst="rect">
            <a:avLst/>
          </a:prstGeom>
        </p:spPr>
        <p:txBody>
          <a:bodyPr anchor="t" rtlCol="false" tIns="0" lIns="0" bIns="0" rIns="0">
            <a:spAutoFit/>
          </a:bodyPr>
          <a:lstStyle/>
          <a:p>
            <a:pPr algn="ctr">
              <a:lnSpc>
                <a:spcPts val="4586"/>
              </a:lnSpc>
            </a:pPr>
            <a:r>
              <a:rPr lang="en-US" b="true" sz="5732">
                <a:solidFill>
                  <a:srgbClr val="252930"/>
                </a:solidFill>
                <a:latin typeface="Maven Pro Bold"/>
                <a:ea typeface="Maven Pro Bold"/>
                <a:cs typeface="Maven Pro Bold"/>
                <a:sym typeface="Maven Pro Bold"/>
              </a:rPr>
              <a:t> SYSTEM DESIGN &amp; ARCHITECTURE</a:t>
            </a:r>
          </a:p>
        </p:txBody>
      </p:sp>
    </p:spTree>
  </p:cSld>
  <p:clrMapOvr>
    <a:masterClrMapping/>
  </p:clrMapOvr>
  <p:transition spd="fast">
    <p:cover dir="d"/>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Freeform 2" id="2"/>
          <p:cNvSpPr/>
          <p:nvPr/>
        </p:nvSpPr>
        <p:spPr>
          <a:xfrm flipH="false" flipV="false" rot="0">
            <a:off x="7364122" y="0"/>
            <a:ext cx="3803211" cy="10278948"/>
          </a:xfrm>
          <a:custGeom>
            <a:avLst/>
            <a:gdLst/>
            <a:ahLst/>
            <a:cxnLst/>
            <a:rect r="r" b="b" t="t" l="l"/>
            <a:pathLst>
              <a:path h="10278948" w="3803211">
                <a:moveTo>
                  <a:pt x="0" y="0"/>
                </a:moveTo>
                <a:lnTo>
                  <a:pt x="3803210" y="0"/>
                </a:lnTo>
                <a:lnTo>
                  <a:pt x="3803210" y="10278948"/>
                </a:lnTo>
                <a:lnTo>
                  <a:pt x="0" y="10278948"/>
                </a:lnTo>
                <a:lnTo>
                  <a:pt x="0" y="0"/>
                </a:lnTo>
                <a:close/>
              </a:path>
            </a:pathLst>
          </a:custGeom>
          <a:blipFill>
            <a:blip r:embed="rId2"/>
            <a:stretch>
              <a:fillRect l="0" t="0" r="0" b="0"/>
            </a:stretch>
          </a:blipFill>
        </p:spPr>
      </p:sp>
      <p:sp>
        <p:nvSpPr>
          <p:cNvPr name="Freeform 3" id="3"/>
          <p:cNvSpPr/>
          <p:nvPr/>
        </p:nvSpPr>
        <p:spPr>
          <a:xfrm flipH="false" flipV="false" rot="0">
            <a:off x="11167332" y="16104"/>
            <a:ext cx="3931698" cy="10278948"/>
          </a:xfrm>
          <a:custGeom>
            <a:avLst/>
            <a:gdLst/>
            <a:ahLst/>
            <a:cxnLst/>
            <a:rect r="r" b="b" t="t" l="l"/>
            <a:pathLst>
              <a:path h="10278948" w="3931698">
                <a:moveTo>
                  <a:pt x="0" y="0"/>
                </a:moveTo>
                <a:lnTo>
                  <a:pt x="3931698" y="0"/>
                </a:lnTo>
                <a:lnTo>
                  <a:pt x="3931698" y="10278948"/>
                </a:lnTo>
                <a:lnTo>
                  <a:pt x="0" y="10278948"/>
                </a:lnTo>
                <a:lnTo>
                  <a:pt x="0" y="0"/>
                </a:lnTo>
                <a:close/>
              </a:path>
            </a:pathLst>
          </a:custGeom>
          <a:blipFill>
            <a:blip r:embed="rId3"/>
            <a:stretch>
              <a:fillRect l="0" t="0" r="0" b="0"/>
            </a:stretch>
          </a:blipFill>
        </p:spPr>
      </p:sp>
      <p:sp>
        <p:nvSpPr>
          <p:cNvPr name="Freeform 4" id="4"/>
          <p:cNvSpPr/>
          <p:nvPr/>
        </p:nvSpPr>
        <p:spPr>
          <a:xfrm flipH="false" flipV="false" rot="0">
            <a:off x="15099030" y="-8052"/>
            <a:ext cx="3188970" cy="10287000"/>
          </a:xfrm>
          <a:custGeom>
            <a:avLst/>
            <a:gdLst/>
            <a:ahLst/>
            <a:cxnLst/>
            <a:rect r="r" b="b" t="t" l="l"/>
            <a:pathLst>
              <a:path h="10287000" w="3188970">
                <a:moveTo>
                  <a:pt x="0" y="0"/>
                </a:moveTo>
                <a:lnTo>
                  <a:pt x="3188970" y="0"/>
                </a:lnTo>
                <a:lnTo>
                  <a:pt x="3188970" y="10287000"/>
                </a:lnTo>
                <a:lnTo>
                  <a:pt x="0" y="10287000"/>
                </a:lnTo>
                <a:lnTo>
                  <a:pt x="0" y="0"/>
                </a:lnTo>
                <a:close/>
              </a:path>
            </a:pathLst>
          </a:custGeom>
          <a:blipFill>
            <a:blip r:embed="rId4"/>
            <a:stretch>
              <a:fillRect l="0" t="0" r="0" b="0"/>
            </a:stretch>
          </a:blipFill>
        </p:spPr>
      </p:sp>
      <p:sp>
        <p:nvSpPr>
          <p:cNvPr name="TextBox 5" id="5"/>
          <p:cNvSpPr txBox="true"/>
          <p:nvPr/>
        </p:nvSpPr>
        <p:spPr>
          <a:xfrm rot="0">
            <a:off x="375649" y="181734"/>
            <a:ext cx="6580917" cy="969769"/>
          </a:xfrm>
          <a:prstGeom prst="rect">
            <a:avLst/>
          </a:prstGeom>
        </p:spPr>
        <p:txBody>
          <a:bodyPr anchor="t" rtlCol="false" tIns="0" lIns="0" bIns="0" rIns="0">
            <a:spAutoFit/>
          </a:bodyPr>
          <a:lstStyle/>
          <a:p>
            <a:pPr algn="ctr">
              <a:lnSpc>
                <a:spcPts val="7879"/>
              </a:lnSpc>
              <a:spcBef>
                <a:spcPct val="0"/>
              </a:spcBef>
            </a:pPr>
            <a:r>
              <a:rPr lang="en-US" b="true" sz="5627">
                <a:solidFill>
                  <a:srgbClr val="000000"/>
                </a:solidFill>
                <a:latin typeface="Maven Pro Bold"/>
                <a:ea typeface="Maven Pro Bold"/>
                <a:cs typeface="Maven Pro Bold"/>
                <a:sym typeface="Maven Pro Bold"/>
              </a:rPr>
              <a:t>EXECUTION FLOW</a:t>
            </a:r>
          </a:p>
        </p:txBody>
      </p:sp>
      <p:sp>
        <p:nvSpPr>
          <p:cNvPr name="TextBox 6" id="6"/>
          <p:cNvSpPr txBox="true"/>
          <p:nvPr/>
        </p:nvSpPr>
        <p:spPr>
          <a:xfrm rot="0">
            <a:off x="-15953" y="1521069"/>
            <a:ext cx="7215303" cy="8897275"/>
          </a:xfrm>
          <a:prstGeom prst="rect">
            <a:avLst/>
          </a:prstGeom>
        </p:spPr>
        <p:txBody>
          <a:bodyPr anchor="t" rtlCol="false" tIns="0" lIns="0" bIns="0" rIns="0">
            <a:spAutoFit/>
          </a:bodyPr>
          <a:lstStyle/>
          <a:p>
            <a:pPr algn="ctr">
              <a:lnSpc>
                <a:spcPts val="4149"/>
              </a:lnSpc>
            </a:pPr>
            <a:r>
              <a:rPr lang="en-US" sz="2963">
                <a:solidFill>
                  <a:srgbClr val="252D37"/>
                </a:solidFill>
                <a:latin typeface="Maven Pro"/>
                <a:ea typeface="Maven Pro"/>
                <a:cs typeface="Maven Pro"/>
                <a:sym typeface="Maven Pro"/>
              </a:rPr>
              <a:t>A user task triggers t</a:t>
            </a:r>
            <a:r>
              <a:rPr lang="en-US" sz="2963">
                <a:solidFill>
                  <a:srgbClr val="252D37"/>
                </a:solidFill>
                <a:latin typeface="Maven Pro"/>
                <a:ea typeface="Maven Pro"/>
                <a:cs typeface="Maven Pro"/>
                <a:sym typeface="Maven Pro"/>
              </a:rPr>
              <a:t>he </a:t>
            </a:r>
            <a:r>
              <a:rPr lang="en-US" b="true" sz="2963">
                <a:solidFill>
                  <a:srgbClr val="252D37"/>
                </a:solidFill>
                <a:latin typeface="Maven Pro Bold"/>
                <a:ea typeface="Maven Pro Bold"/>
                <a:cs typeface="Maven Pro Bold"/>
                <a:sym typeface="Maven Pro Bold"/>
              </a:rPr>
              <a:t>Agent Orchestrator</a:t>
            </a:r>
            <a:r>
              <a:rPr lang="en-US" sz="2963">
                <a:solidFill>
                  <a:srgbClr val="252D37"/>
                </a:solidFill>
                <a:latin typeface="Maven Pro"/>
                <a:ea typeface="Maven Pro"/>
                <a:cs typeface="Maven Pro"/>
                <a:sym typeface="Maven Pro"/>
              </a:rPr>
              <a:t> to capture the initial webpage state. T</a:t>
            </a:r>
            <a:r>
              <a:rPr lang="en-US" sz="2963">
                <a:solidFill>
                  <a:srgbClr val="252D37"/>
                </a:solidFill>
                <a:latin typeface="Maven Pro"/>
                <a:ea typeface="Maven Pro"/>
                <a:cs typeface="Maven Pro"/>
                <a:sym typeface="Maven Pro"/>
              </a:rPr>
              <a:t>he system then enters </a:t>
            </a:r>
            <a:r>
              <a:rPr lang="en-US" sz="2963">
                <a:solidFill>
                  <a:srgbClr val="252D37"/>
                </a:solidFill>
                <a:latin typeface="Maven Pro"/>
                <a:ea typeface="Maven Pro"/>
                <a:cs typeface="Maven Pro"/>
                <a:sym typeface="Maven Pro"/>
              </a:rPr>
              <a:t>either a direct "Re</a:t>
            </a:r>
            <a:r>
              <a:rPr lang="en-US" sz="2963">
                <a:solidFill>
                  <a:srgbClr val="252D37"/>
                </a:solidFill>
                <a:latin typeface="Maven Pro"/>
                <a:ea typeface="Maven Pro"/>
                <a:cs typeface="Maven Pro"/>
                <a:sym typeface="Maven Pro"/>
              </a:rPr>
              <a:t>active" mode</a:t>
            </a:r>
            <a:r>
              <a:rPr lang="en-US" sz="2963">
                <a:solidFill>
                  <a:srgbClr val="252D37"/>
                </a:solidFill>
                <a:latin typeface="Maven Pro"/>
                <a:ea typeface="Maven Pro"/>
                <a:cs typeface="Maven Pro"/>
                <a:sym typeface="Maven Pro"/>
              </a:rPr>
              <a:t> or a "Plan-First" pipeline, where models generate, predict, and score candidate plans. The selected action undergoes a strict Sentinel safety check; </a:t>
            </a:r>
            <a:r>
              <a:rPr lang="en-US" b="true" sz="2963">
                <a:solidFill>
                  <a:srgbClr val="252D37"/>
                </a:solidFill>
                <a:latin typeface="Maven Pro Bold"/>
                <a:ea typeface="Maven Pro Bold"/>
                <a:cs typeface="Maven Pro Bold"/>
                <a:sym typeface="Maven Pro Bold"/>
              </a:rPr>
              <a:t>if safe</a:t>
            </a:r>
            <a:r>
              <a:rPr lang="en-US" sz="2963">
                <a:solidFill>
                  <a:srgbClr val="252D37"/>
                </a:solidFill>
                <a:latin typeface="Maven Pro"/>
                <a:ea typeface="Maven Pro"/>
                <a:cs typeface="Maven Pro"/>
                <a:sym typeface="Maven Pro"/>
              </a:rPr>
              <a:t>,</a:t>
            </a:r>
            <a:r>
              <a:rPr lang="en-US" sz="2963">
                <a:solidFill>
                  <a:srgbClr val="252D37"/>
                </a:solidFill>
                <a:latin typeface="Maven Pro"/>
                <a:ea typeface="Maven Pro"/>
                <a:cs typeface="Maven Pro"/>
                <a:sym typeface="Maven Pro"/>
              </a:rPr>
              <a:t> </a:t>
            </a:r>
            <a:r>
              <a:rPr lang="en-US" sz="2963">
                <a:solidFill>
                  <a:srgbClr val="252D37"/>
                </a:solidFill>
                <a:latin typeface="Maven Pro"/>
                <a:ea typeface="Maven Pro"/>
                <a:cs typeface="Maven Pro"/>
                <a:sym typeface="Maven Pro"/>
              </a:rPr>
              <a:t>it is executed in</a:t>
            </a:r>
            <a:r>
              <a:rPr lang="en-US" sz="2963">
                <a:solidFill>
                  <a:srgbClr val="252D37"/>
                </a:solidFill>
                <a:latin typeface="Maven Pro"/>
                <a:ea typeface="Maven Pro"/>
                <a:cs typeface="Maven Pro"/>
                <a:sym typeface="Maven Pro"/>
              </a:rPr>
              <a:t> the browser via Playwright. Post-execution, the Reflexion module compares the predicted outcome against the actual new state, generating corrective </a:t>
            </a:r>
            <a:r>
              <a:rPr lang="en-US" sz="2963">
                <a:solidFill>
                  <a:srgbClr val="252D37"/>
                </a:solidFill>
                <a:latin typeface="Maven Pro"/>
                <a:ea typeface="Maven Pro"/>
                <a:cs typeface="Maven Pro"/>
                <a:sym typeface="Maven Pro"/>
              </a:rPr>
              <a:t>rules for any mismatch</a:t>
            </a:r>
            <a:r>
              <a:rPr lang="en-US" sz="2963">
                <a:solidFill>
                  <a:srgbClr val="252D37"/>
                </a:solidFill>
                <a:latin typeface="Maven Pro"/>
                <a:ea typeface="Maven Pro"/>
                <a:cs typeface="Maven Pro"/>
                <a:sym typeface="Maven Pro"/>
              </a:rPr>
              <a:t>es. Finally, the system updates its memory and either loops back for the next step or marks the task as complete.</a:t>
            </a:r>
          </a:p>
          <a:p>
            <a:pPr algn="ctr">
              <a:lnSpc>
                <a:spcPts val="4149"/>
              </a:lnSpc>
            </a:pP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Freeform 2" id="2"/>
          <p:cNvSpPr/>
          <p:nvPr/>
        </p:nvSpPr>
        <p:spPr>
          <a:xfrm flipH="false" flipV="false" rot="0">
            <a:off x="12601985" y="567471"/>
            <a:ext cx="5686015" cy="6468044"/>
          </a:xfrm>
          <a:custGeom>
            <a:avLst/>
            <a:gdLst/>
            <a:ahLst/>
            <a:cxnLst/>
            <a:rect r="r" b="b" t="t" l="l"/>
            <a:pathLst>
              <a:path h="6468044" w="5686015">
                <a:moveTo>
                  <a:pt x="0" y="0"/>
                </a:moveTo>
                <a:lnTo>
                  <a:pt x="5686015" y="0"/>
                </a:lnTo>
                <a:lnTo>
                  <a:pt x="5686015" y="6468044"/>
                </a:lnTo>
                <a:lnTo>
                  <a:pt x="0" y="6468044"/>
                </a:lnTo>
                <a:lnTo>
                  <a:pt x="0" y="0"/>
                </a:lnTo>
                <a:close/>
              </a:path>
            </a:pathLst>
          </a:custGeom>
          <a:blipFill>
            <a:blip r:embed="rId2"/>
            <a:stretch>
              <a:fillRect l="-6876" t="0" r="-6876" b="0"/>
            </a:stretch>
          </a:blipFill>
        </p:spPr>
      </p:sp>
      <p:sp>
        <p:nvSpPr>
          <p:cNvPr name="TextBox 3" id="3"/>
          <p:cNvSpPr txBox="true"/>
          <p:nvPr/>
        </p:nvSpPr>
        <p:spPr>
          <a:xfrm rot="0">
            <a:off x="-319872" y="1029922"/>
            <a:ext cx="13174901" cy="882812"/>
          </a:xfrm>
          <a:prstGeom prst="rect">
            <a:avLst/>
          </a:prstGeom>
        </p:spPr>
        <p:txBody>
          <a:bodyPr anchor="t" rtlCol="false" tIns="0" lIns="0" bIns="0" rIns="0">
            <a:spAutoFit/>
          </a:bodyPr>
          <a:lstStyle/>
          <a:p>
            <a:pPr algn="ctr">
              <a:lnSpc>
                <a:spcPts val="6049"/>
              </a:lnSpc>
            </a:pPr>
            <a:r>
              <a:rPr lang="en-US" b="true" sz="7562">
                <a:solidFill>
                  <a:srgbClr val="252D37"/>
                </a:solidFill>
                <a:latin typeface="Maven Pro Bold"/>
                <a:ea typeface="Maven Pro Bold"/>
                <a:cs typeface="Maven Pro Bold"/>
                <a:sym typeface="Maven Pro Bold"/>
              </a:rPr>
              <a:t>MODULES DEVELOPED</a:t>
            </a:r>
          </a:p>
        </p:txBody>
      </p:sp>
      <p:sp>
        <p:nvSpPr>
          <p:cNvPr name="TextBox 4" id="4"/>
          <p:cNvSpPr txBox="true"/>
          <p:nvPr/>
        </p:nvSpPr>
        <p:spPr>
          <a:xfrm rot="0">
            <a:off x="740459" y="2337998"/>
            <a:ext cx="11928547" cy="4706192"/>
          </a:xfrm>
          <a:prstGeom prst="rect">
            <a:avLst/>
          </a:prstGeom>
        </p:spPr>
        <p:txBody>
          <a:bodyPr anchor="t" rtlCol="false" tIns="0" lIns="0" bIns="0" rIns="0">
            <a:spAutoFit/>
          </a:bodyPr>
          <a:lstStyle/>
          <a:p>
            <a:pPr algn="l">
              <a:lnSpc>
                <a:spcPts val="4678"/>
              </a:lnSpc>
              <a:spcBef>
                <a:spcPct val="0"/>
              </a:spcBef>
            </a:pPr>
            <a:r>
              <a:rPr lang="en-US" sz="3341">
                <a:solidFill>
                  <a:srgbClr val="252D37"/>
                </a:solidFill>
                <a:latin typeface="Maven Pro"/>
                <a:ea typeface="Maven Pro"/>
                <a:cs typeface="Maven Pro"/>
                <a:sym typeface="Maven Pro"/>
              </a:rPr>
              <a:t>1.</a:t>
            </a:r>
            <a:r>
              <a:rPr lang="en-US" sz="3341">
                <a:solidFill>
                  <a:srgbClr val="252D37"/>
                </a:solidFill>
                <a:latin typeface="Maven Pro"/>
                <a:ea typeface="Maven Pro"/>
                <a:cs typeface="Maven Pro"/>
                <a:sym typeface="Maven Pro"/>
              </a:rPr>
              <a:t> </a:t>
            </a:r>
            <a:r>
              <a:rPr lang="en-US" b="true" sz="3341" u="sng">
                <a:solidFill>
                  <a:srgbClr val="252D37"/>
                </a:solidFill>
                <a:latin typeface="Maven Pro Bold"/>
                <a:ea typeface="Maven Pro Bold"/>
                <a:cs typeface="Maven Pro Bold"/>
                <a:sym typeface="Maven Pro Bold"/>
              </a:rPr>
              <a:t>Controller Module (State Perception &amp; Generation)</a:t>
            </a:r>
          </a:p>
          <a:p>
            <a:pPr algn="l" marL="721502" indent="-360751" lvl="1">
              <a:lnSpc>
                <a:spcPts val="4678"/>
              </a:lnSpc>
              <a:spcBef>
                <a:spcPct val="0"/>
              </a:spcBef>
              <a:buFont typeface="Arial"/>
              <a:buChar char="•"/>
            </a:pPr>
            <a:r>
              <a:rPr lang="en-US" sz="3341">
                <a:solidFill>
                  <a:srgbClr val="252D37"/>
                </a:solidFill>
                <a:latin typeface="Maven Pro"/>
                <a:ea typeface="Maven Pro"/>
                <a:cs typeface="Maven Pro"/>
                <a:sym typeface="Maven Pro"/>
              </a:rPr>
              <a:t>Implementation Status: Fully Functional.</a:t>
            </a:r>
          </a:p>
          <a:p>
            <a:pPr algn="l" marL="721502" indent="-360751" lvl="1">
              <a:lnSpc>
                <a:spcPts val="4678"/>
              </a:lnSpc>
              <a:spcBef>
                <a:spcPct val="0"/>
              </a:spcBef>
              <a:buFont typeface="Arial"/>
              <a:buChar char="•"/>
            </a:pPr>
            <a:r>
              <a:rPr lang="en-US" sz="3341">
                <a:solidFill>
                  <a:srgbClr val="252D37"/>
                </a:solidFill>
                <a:latin typeface="Maven Pro"/>
                <a:ea typeface="Maven Pro"/>
                <a:cs typeface="Maven Pro"/>
                <a:sym typeface="Maven Pro"/>
              </a:rPr>
              <a:t>Details: The controller ingests the current webpage state (via screenshots and DOM/accessibility trees) alongside the user's natural language goal. It successfully generates a diverse list of plausible next actions without committing to them.</a:t>
            </a:r>
          </a:p>
          <a:p>
            <a:pPr algn="l">
              <a:lnSpc>
                <a:spcPts val="4678"/>
              </a:lnSpc>
              <a:spcBef>
                <a:spcPct val="0"/>
              </a:spcBef>
            </a:pPr>
          </a:p>
        </p:txBody>
      </p:sp>
      <p:sp>
        <p:nvSpPr>
          <p:cNvPr name="TextBox 5" id="5"/>
          <p:cNvSpPr txBox="true"/>
          <p:nvPr/>
        </p:nvSpPr>
        <p:spPr>
          <a:xfrm rot="0">
            <a:off x="740459" y="6566157"/>
            <a:ext cx="17426721" cy="3929654"/>
          </a:xfrm>
          <a:prstGeom prst="rect">
            <a:avLst/>
          </a:prstGeom>
        </p:spPr>
        <p:txBody>
          <a:bodyPr anchor="t" rtlCol="false" tIns="0" lIns="0" bIns="0" rIns="0">
            <a:spAutoFit/>
          </a:bodyPr>
          <a:lstStyle/>
          <a:p>
            <a:pPr algn="l">
              <a:lnSpc>
                <a:spcPts val="4429"/>
              </a:lnSpc>
              <a:spcBef>
                <a:spcPct val="0"/>
              </a:spcBef>
            </a:pPr>
            <a:r>
              <a:rPr lang="en-US" sz="3164">
                <a:solidFill>
                  <a:srgbClr val="252D37"/>
                </a:solidFill>
                <a:latin typeface="Maven Pro"/>
                <a:ea typeface="Maven Pro"/>
                <a:cs typeface="Maven Pro"/>
                <a:sym typeface="Maven Pro"/>
              </a:rPr>
              <a:t>2.</a:t>
            </a:r>
            <a:r>
              <a:rPr lang="en-US" sz="3164">
                <a:solidFill>
                  <a:srgbClr val="252D37"/>
                </a:solidFill>
                <a:latin typeface="Maven Pro"/>
                <a:ea typeface="Maven Pro"/>
                <a:cs typeface="Maven Pro"/>
                <a:sym typeface="Maven Pro"/>
              </a:rPr>
              <a:t> </a:t>
            </a:r>
            <a:r>
              <a:rPr lang="en-US" b="true" sz="3164" u="sng">
                <a:solidFill>
                  <a:srgbClr val="252D37"/>
                </a:solidFill>
                <a:latin typeface="Maven Pro Bold"/>
                <a:ea typeface="Maven Pro Bold"/>
                <a:cs typeface="Maven Pro Bold"/>
                <a:sym typeface="Maven Pro Bold"/>
              </a:rPr>
              <a:t>World Model (Simulation Engine)</a:t>
            </a:r>
          </a:p>
          <a:p>
            <a:pPr algn="l" marL="683153" indent="-341577" lvl="1">
              <a:lnSpc>
                <a:spcPts val="4429"/>
              </a:lnSpc>
              <a:spcBef>
                <a:spcPct val="0"/>
              </a:spcBef>
              <a:buFont typeface="Arial"/>
              <a:buChar char="•"/>
            </a:pPr>
            <a:r>
              <a:rPr lang="en-US" sz="3164">
                <a:solidFill>
                  <a:srgbClr val="252D37"/>
                </a:solidFill>
                <a:latin typeface="Maven Pro"/>
                <a:ea typeface="Maven Pro"/>
                <a:cs typeface="Maven Pro"/>
                <a:sym typeface="Maven Pro"/>
              </a:rPr>
              <a:t>Implementation Status: Functional (using LLM APIs like GPT-4o and Dreamer-7B).</a:t>
            </a:r>
          </a:p>
          <a:p>
            <a:pPr algn="l" marL="683153" indent="-341577" lvl="1">
              <a:lnSpc>
                <a:spcPts val="4429"/>
              </a:lnSpc>
              <a:spcBef>
                <a:spcPct val="0"/>
              </a:spcBef>
              <a:buFont typeface="Arial"/>
              <a:buChar char="•"/>
            </a:pPr>
            <a:r>
              <a:rPr lang="en-US" sz="3164">
                <a:solidFill>
                  <a:srgbClr val="252D37"/>
                </a:solidFill>
                <a:latin typeface="Maven Pro"/>
                <a:ea typeface="Maven Pro"/>
                <a:cs typeface="Maven Pro"/>
                <a:sym typeface="Maven Pro"/>
              </a:rPr>
              <a:t>Details: Acts as the core predictive engine. Given the current page, task description, and a candidate action, the World Model generates the expected state changes. It is capable of predicting structural changes (HTML/Accessibility formats) for $k$ imagination steps into the future, preventing the agent from making irreversible, erroneous clicks on the live web.</a:t>
            </a:r>
          </a:p>
          <a:p>
            <a:pPr algn="l">
              <a:lnSpc>
                <a:spcPts val="4429"/>
              </a:lnSpc>
              <a:spcBef>
                <a:spcPct val="0"/>
              </a:spcBef>
            </a:pP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2789258" y="1013271"/>
            <a:ext cx="13539927" cy="920751"/>
          </a:xfrm>
          <a:prstGeom prst="rect">
            <a:avLst/>
          </a:prstGeom>
        </p:spPr>
        <p:txBody>
          <a:bodyPr anchor="t" rtlCol="false" tIns="0" lIns="0" bIns="0" rIns="0">
            <a:spAutoFit/>
          </a:bodyPr>
          <a:lstStyle/>
          <a:p>
            <a:pPr algn="ctr">
              <a:lnSpc>
                <a:spcPts val="6400"/>
              </a:lnSpc>
            </a:pPr>
            <a:r>
              <a:rPr lang="en-US" b="true" sz="8000">
                <a:solidFill>
                  <a:srgbClr val="252D37"/>
                </a:solidFill>
                <a:latin typeface="Maven Pro Bold"/>
                <a:ea typeface="Maven Pro Bold"/>
                <a:cs typeface="Maven Pro Bold"/>
                <a:sym typeface="Maven Pro Bold"/>
              </a:rPr>
              <a:t>MODULES DEVELOPED</a:t>
            </a:r>
          </a:p>
        </p:txBody>
      </p:sp>
      <p:sp>
        <p:nvSpPr>
          <p:cNvPr name="TextBox 3" id="3"/>
          <p:cNvSpPr txBox="true"/>
          <p:nvPr/>
        </p:nvSpPr>
        <p:spPr>
          <a:xfrm rot="0">
            <a:off x="1145235" y="2513378"/>
            <a:ext cx="15362472" cy="4865512"/>
          </a:xfrm>
          <a:prstGeom prst="rect">
            <a:avLst/>
          </a:prstGeom>
        </p:spPr>
        <p:txBody>
          <a:bodyPr anchor="t" rtlCol="false" tIns="0" lIns="0" bIns="0" rIns="0">
            <a:spAutoFit/>
          </a:bodyPr>
          <a:lstStyle/>
          <a:p>
            <a:pPr algn="l">
              <a:lnSpc>
                <a:spcPts val="4822"/>
              </a:lnSpc>
              <a:spcBef>
                <a:spcPct val="0"/>
              </a:spcBef>
            </a:pPr>
            <a:r>
              <a:rPr lang="en-US" sz="3444">
                <a:solidFill>
                  <a:srgbClr val="252D37"/>
                </a:solidFill>
                <a:latin typeface="Maven Pro"/>
                <a:ea typeface="Maven Pro"/>
                <a:cs typeface="Maven Pro"/>
                <a:sym typeface="Maven Pro"/>
              </a:rPr>
              <a:t>3.</a:t>
            </a:r>
            <a:r>
              <a:rPr lang="en-US" sz="3444">
                <a:solidFill>
                  <a:srgbClr val="252D37"/>
                </a:solidFill>
                <a:latin typeface="Maven Pro"/>
                <a:ea typeface="Maven Pro"/>
                <a:cs typeface="Maven Pro"/>
                <a:sym typeface="Maven Pro"/>
              </a:rPr>
              <a:t> </a:t>
            </a:r>
            <a:r>
              <a:rPr lang="en-US" b="true" sz="3444" u="sng">
                <a:solidFill>
                  <a:srgbClr val="252D37"/>
                </a:solidFill>
                <a:latin typeface="Maven Pro Bold"/>
                <a:ea typeface="Maven Pro Bold"/>
                <a:cs typeface="Maven Pro Bold"/>
                <a:sym typeface="Maven Pro Bold"/>
              </a:rPr>
              <a:t>Sentinel &amp; Scorer Modules (Value Functions)</a:t>
            </a:r>
          </a:p>
          <a:p>
            <a:pPr algn="l" marL="743650" indent="-371825" lvl="1">
              <a:lnSpc>
                <a:spcPts val="4822"/>
              </a:lnSpc>
              <a:spcBef>
                <a:spcPct val="0"/>
              </a:spcBef>
              <a:buFont typeface="Arial"/>
              <a:buChar char="•"/>
            </a:pPr>
            <a:r>
              <a:rPr lang="en-US" sz="3444">
                <a:solidFill>
                  <a:srgbClr val="252D37"/>
                </a:solidFill>
                <a:latin typeface="Maven Pro"/>
                <a:ea typeface="Maven Pro"/>
                <a:cs typeface="Maven Pro"/>
                <a:sym typeface="Maven Pro"/>
              </a:rPr>
              <a:t>Implementation Status: Integrated and Testing.</a:t>
            </a:r>
          </a:p>
          <a:p>
            <a:pPr algn="l" marL="743650" indent="-371825" lvl="1">
              <a:lnSpc>
                <a:spcPts val="4822"/>
              </a:lnSpc>
              <a:spcBef>
                <a:spcPct val="0"/>
              </a:spcBef>
              <a:buFont typeface="Arial"/>
              <a:buChar char="•"/>
            </a:pPr>
            <a:r>
              <a:rPr lang="en-US" sz="3444">
                <a:solidFill>
                  <a:srgbClr val="252D37"/>
                </a:solidFill>
                <a:latin typeface="Maven Pro"/>
                <a:ea typeface="Maven Pro"/>
                <a:cs typeface="Maven Pro"/>
                <a:sym typeface="Maven Pro"/>
              </a:rPr>
              <a:t>Details: The Sentinel module acts as a strict guardrail, evaluating the imagined futures for malicious patterns (e.g., unexpected credential prompts) before any real action is taken. The Scorer then acts as a value function, ranking the safe simulated outcomes based on task progress likelihood and information gain.</a:t>
            </a:r>
          </a:p>
          <a:p>
            <a:pPr algn="l">
              <a:lnSpc>
                <a:spcPts val="4822"/>
              </a:lnSpc>
              <a:spcBef>
                <a:spcPct val="0"/>
              </a:spcBef>
            </a:pPr>
          </a:p>
        </p:txBody>
      </p:sp>
      <p:sp>
        <p:nvSpPr>
          <p:cNvPr name="TextBox 4" id="4"/>
          <p:cNvSpPr txBox="true"/>
          <p:nvPr/>
        </p:nvSpPr>
        <p:spPr>
          <a:xfrm rot="0">
            <a:off x="1145235" y="6689384"/>
            <a:ext cx="16262791" cy="3422268"/>
          </a:xfrm>
          <a:prstGeom prst="rect">
            <a:avLst/>
          </a:prstGeom>
        </p:spPr>
        <p:txBody>
          <a:bodyPr anchor="t" rtlCol="false" tIns="0" lIns="0" bIns="0" rIns="0">
            <a:spAutoFit/>
          </a:bodyPr>
          <a:lstStyle/>
          <a:p>
            <a:pPr algn="l">
              <a:lnSpc>
                <a:spcPts val="4571"/>
              </a:lnSpc>
              <a:spcBef>
                <a:spcPct val="0"/>
              </a:spcBef>
            </a:pPr>
            <a:r>
              <a:rPr lang="en-US" sz="3265">
                <a:solidFill>
                  <a:srgbClr val="252D37"/>
                </a:solidFill>
                <a:latin typeface="Maven Pro"/>
                <a:ea typeface="Maven Pro"/>
                <a:cs typeface="Maven Pro"/>
                <a:sym typeface="Maven Pro"/>
              </a:rPr>
              <a:t>4.</a:t>
            </a:r>
            <a:r>
              <a:rPr lang="en-US" sz="3265">
                <a:solidFill>
                  <a:srgbClr val="252D37"/>
                </a:solidFill>
                <a:latin typeface="Maven Pro"/>
                <a:ea typeface="Maven Pro"/>
                <a:cs typeface="Maven Pro"/>
                <a:sym typeface="Maven Pro"/>
              </a:rPr>
              <a:t> </a:t>
            </a:r>
            <a:r>
              <a:rPr lang="en-US" b="true" sz="3265" u="sng">
                <a:solidFill>
                  <a:srgbClr val="252D37"/>
                </a:solidFill>
                <a:latin typeface="Maven Pro Bold"/>
                <a:ea typeface="Maven Pro Bold"/>
                <a:cs typeface="Maven Pro Bold"/>
                <a:sym typeface="Maven Pro Bold"/>
              </a:rPr>
              <a:t>Execution &amp; Reflexion Modules</a:t>
            </a:r>
          </a:p>
          <a:p>
            <a:pPr algn="l" marL="704924" indent="-352462" lvl="1">
              <a:lnSpc>
                <a:spcPts val="4571"/>
              </a:lnSpc>
              <a:spcBef>
                <a:spcPct val="0"/>
              </a:spcBef>
              <a:buFont typeface="Arial"/>
              <a:buChar char="•"/>
            </a:pPr>
            <a:r>
              <a:rPr lang="en-US" sz="3265">
                <a:solidFill>
                  <a:srgbClr val="252D37"/>
                </a:solidFill>
                <a:latin typeface="Maven Pro"/>
                <a:ea typeface="Maven Pro"/>
                <a:cs typeface="Maven Pro"/>
                <a:sym typeface="Maven Pro"/>
              </a:rPr>
              <a:t>Implementation Status: Functional via Playwright.</a:t>
            </a:r>
          </a:p>
          <a:p>
            <a:pPr algn="l" marL="704924" indent="-352462" lvl="1">
              <a:lnSpc>
                <a:spcPts val="4571"/>
              </a:lnSpc>
              <a:spcBef>
                <a:spcPct val="0"/>
              </a:spcBef>
              <a:buFont typeface="Arial"/>
              <a:buChar char="•"/>
            </a:pPr>
            <a:r>
              <a:rPr lang="en-US" sz="3265">
                <a:solidFill>
                  <a:srgbClr val="252D37"/>
                </a:solidFill>
                <a:latin typeface="Maven Pro"/>
                <a:ea typeface="Maven Pro"/>
                <a:cs typeface="Maven Pro"/>
                <a:sym typeface="Maven Pro"/>
              </a:rPr>
              <a:t>Details: The highest-scoring action is translated into physical browser commands. If the actual outcome deviates from the World Model's prediction, the Reflexion module logs the error delta to refine subsequent simulation cycles.</a:t>
            </a:r>
          </a:p>
          <a:p>
            <a:pPr algn="l">
              <a:lnSpc>
                <a:spcPts val="4571"/>
              </a:lnSpc>
              <a:spcBef>
                <a:spcPct val="0"/>
              </a:spcBef>
            </a:pP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graphicFrame>
        <p:nvGraphicFramePr>
          <p:cNvPr name="Object 2" id="2"/>
          <p:cNvGraphicFramePr/>
          <p:nvPr/>
        </p:nvGraphicFramePr>
        <p:xfrm>
          <a:off x="230661" y="2516045"/>
          <a:ext cx="9715500" cy="3771900"/>
        </p:xfrm>
        <a:graphic>
          <a:graphicData uri="http://schemas.openxmlformats.org/presentationml/2006/ole">
            <p:oleObj imgW="11658600" imgH="57150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3" id="3"/>
          <p:cNvGraphicFramePr/>
          <p:nvPr/>
        </p:nvGraphicFramePr>
        <p:xfrm>
          <a:off x="8451036" y="2516045"/>
          <a:ext cx="9715500" cy="4400550"/>
        </p:xfrm>
        <a:graphic>
          <a:graphicData uri="http://schemas.openxmlformats.org/presentationml/2006/ole">
            <p:oleObj imgW="11658600" imgH="63373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4" id="4"/>
          <p:cNvSpPr txBox="true"/>
          <p:nvPr/>
        </p:nvSpPr>
        <p:spPr>
          <a:xfrm rot="0">
            <a:off x="517231" y="968961"/>
            <a:ext cx="16742069" cy="920751"/>
          </a:xfrm>
          <a:prstGeom prst="rect">
            <a:avLst/>
          </a:prstGeom>
        </p:spPr>
        <p:txBody>
          <a:bodyPr anchor="t" rtlCol="false" tIns="0" lIns="0" bIns="0" rIns="0">
            <a:spAutoFit/>
          </a:bodyPr>
          <a:lstStyle/>
          <a:p>
            <a:pPr algn="ctr">
              <a:lnSpc>
                <a:spcPts val="6400"/>
              </a:lnSpc>
            </a:pPr>
            <a:r>
              <a:rPr lang="en-US" b="true" sz="8000">
                <a:solidFill>
                  <a:srgbClr val="252D37"/>
                </a:solidFill>
                <a:latin typeface="Maven Pro Bold"/>
                <a:ea typeface="Maven Pro Bold"/>
                <a:cs typeface="Maven Pro Bold"/>
                <a:sym typeface="Maven Pro Bold"/>
              </a:rPr>
              <a:t>CORE TECHNOLOGIES &amp; TOOLS</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2167731" y="258763"/>
            <a:ext cx="13933488" cy="1377949"/>
          </a:xfrm>
          <a:prstGeom prst="rect">
            <a:avLst/>
          </a:prstGeom>
        </p:spPr>
        <p:txBody>
          <a:bodyPr anchor="t" rtlCol="false" tIns="0" lIns="0" bIns="0" rIns="0">
            <a:spAutoFit/>
          </a:bodyPr>
          <a:lstStyle/>
          <a:p>
            <a:pPr algn="ctr">
              <a:lnSpc>
                <a:spcPts val="11200"/>
              </a:lnSpc>
              <a:spcBef>
                <a:spcPct val="0"/>
              </a:spcBef>
            </a:pPr>
            <a:r>
              <a:rPr lang="en-US" b="true" sz="8000">
                <a:solidFill>
                  <a:srgbClr val="252D37"/>
                </a:solidFill>
                <a:latin typeface="Maven Pro Bold"/>
                <a:ea typeface="Maven Pro Bold"/>
                <a:cs typeface="Maven Pro Bold"/>
                <a:sym typeface="Maven Pro Bold"/>
              </a:rPr>
              <a:t>ALGORITHMS IMPLEMENTED</a:t>
            </a:r>
          </a:p>
        </p:txBody>
      </p:sp>
      <p:sp>
        <p:nvSpPr>
          <p:cNvPr name="TextBox 3" id="3"/>
          <p:cNvSpPr txBox="true"/>
          <p:nvPr/>
        </p:nvSpPr>
        <p:spPr>
          <a:xfrm rot="0">
            <a:off x="289942" y="1990185"/>
            <a:ext cx="17648781" cy="7990587"/>
          </a:xfrm>
          <a:prstGeom prst="rect">
            <a:avLst/>
          </a:prstGeom>
        </p:spPr>
        <p:txBody>
          <a:bodyPr anchor="t" rtlCol="false" tIns="0" lIns="0" bIns="0" rIns="0">
            <a:spAutoFit/>
          </a:bodyPr>
          <a:lstStyle/>
          <a:p>
            <a:pPr algn="l">
              <a:lnSpc>
                <a:spcPts val="3198"/>
              </a:lnSpc>
              <a:spcBef>
                <a:spcPct val="0"/>
              </a:spcBef>
            </a:pPr>
            <a:r>
              <a:rPr lang="en-US" b="true" sz="2284">
                <a:solidFill>
                  <a:srgbClr val="252D37"/>
                </a:solidFill>
                <a:latin typeface="Maven Pro Bold"/>
                <a:ea typeface="Maven Pro Bold"/>
                <a:cs typeface="Maven Pro Bold"/>
                <a:sym typeface="Maven Pro Bold"/>
              </a:rPr>
              <a:t> 1. WORLD-MODEL-GUIDED PLAN SELECTION</a:t>
            </a:r>
          </a:p>
          <a:p>
            <a:pPr algn="l" marL="493326" indent="-246663" lvl="1">
              <a:lnSpc>
                <a:spcPts val="3198"/>
              </a:lnSpc>
              <a:spcBef>
                <a:spcPct val="0"/>
              </a:spcBef>
              <a:buFont typeface="Arial"/>
              <a:buChar char="•"/>
            </a:pPr>
            <a:r>
              <a:rPr lang="en-US" b="true" sz="2284">
                <a:solidFill>
                  <a:srgbClr val="252D37"/>
                </a:solidFill>
                <a:latin typeface="Maven Pro Bold"/>
                <a:ea typeface="Maven Pro Bold"/>
                <a:cs typeface="Maven Pro Bold"/>
                <a:sym typeface="Maven Pro Bold"/>
              </a:rPr>
              <a:t>  </a:t>
            </a:r>
            <a:r>
              <a:rPr lang="en-US" sz="2284">
                <a:solidFill>
                  <a:srgbClr val="252D37"/>
                </a:solidFill>
                <a:latin typeface="Maven Pro"/>
                <a:ea typeface="Maven Pro"/>
                <a:cs typeface="Maven Pro"/>
                <a:sym typeface="Maven Pro"/>
              </a:rPr>
              <a:t>GENERATE N CANDIDATE PLANS → DREAMER-7B PREDICTS STATE CHANGES FOR EACH STEP → CLAUDE SCORES PLANS USING PREDICTIONS AS CONTEXT → HIGHEST-SCORED PLAN SELECTED FOR EXECUTION. DECOUPLES </a:t>
            </a:r>
            <a:r>
              <a:rPr lang="en-US" sz="2284">
                <a:solidFill>
                  <a:srgbClr val="252D37"/>
                </a:solidFill>
                <a:latin typeface="Maven Pro"/>
                <a:ea typeface="Maven Pro"/>
                <a:cs typeface="Maven Pro"/>
                <a:sym typeface="Maven Pro"/>
              </a:rPr>
              <a:t>PLANNING FROM EXECUTION — ALL REASONING HAPPENS BEFORE THE FIRST ACTION.</a:t>
            </a:r>
          </a:p>
          <a:p>
            <a:pPr algn="l">
              <a:lnSpc>
                <a:spcPts val="3198"/>
              </a:lnSpc>
              <a:spcBef>
                <a:spcPct val="0"/>
              </a:spcBef>
            </a:pPr>
          </a:p>
          <a:p>
            <a:pPr algn="l">
              <a:lnSpc>
                <a:spcPts val="3198"/>
              </a:lnSpc>
              <a:spcBef>
                <a:spcPct val="0"/>
              </a:spcBef>
            </a:pPr>
            <a:r>
              <a:rPr lang="en-US" b="true" sz="2284">
                <a:solidFill>
                  <a:srgbClr val="252D37"/>
                </a:solidFill>
                <a:latin typeface="Maven Pro Bold"/>
                <a:ea typeface="Maven Pro Bold"/>
                <a:cs typeface="Maven Pro Bold"/>
                <a:sym typeface="Maven Pro Bold"/>
              </a:rPr>
              <a:t>  2. LLM-GROUNDED PLACEHOLDER RESOLUTION</a:t>
            </a:r>
          </a:p>
          <a:p>
            <a:pPr algn="l" marL="493326" indent="-246663" lvl="1">
              <a:lnSpc>
                <a:spcPts val="3198"/>
              </a:lnSpc>
              <a:spcBef>
                <a:spcPct val="0"/>
              </a:spcBef>
              <a:buFont typeface="Arial"/>
              <a:buChar char="•"/>
            </a:pPr>
            <a:r>
              <a:rPr lang="en-US" b="true" sz="2284">
                <a:solidFill>
                  <a:srgbClr val="252D37"/>
                </a:solidFill>
                <a:latin typeface="Maven Pro Bold"/>
                <a:ea typeface="Maven Pro Bold"/>
                <a:cs typeface="Maven Pro Bold"/>
                <a:sym typeface="Maven Pro Bold"/>
              </a:rPr>
              <a:t>  </a:t>
            </a:r>
            <a:r>
              <a:rPr lang="en-US" sz="2284">
                <a:solidFill>
                  <a:srgbClr val="252D37"/>
                </a:solidFill>
                <a:latin typeface="Maven Pro"/>
                <a:ea typeface="Maven Pro"/>
                <a:cs typeface="Maven Pro"/>
                <a:sym typeface="Maven Pro"/>
              </a:rPr>
              <a:t>PLANS REFERENCE UNSEEN FUTURE PAGES VIA PLACEHOLDER IDS ([?SEARCH_BOX]). AT EXECUTION TIME, THE LIVE ACCESSIBILITY TREE IS SENT TO THE LLM WHICH GROUNDS THE PLACEHOLDER TO A REAL </a:t>
            </a:r>
            <a:r>
              <a:rPr lang="en-US" sz="2284">
                <a:solidFill>
                  <a:srgbClr val="252D37"/>
                </a:solidFill>
                <a:latin typeface="Maven Pro"/>
                <a:ea typeface="Maven Pro"/>
                <a:cs typeface="Maven Pro"/>
                <a:sym typeface="Maven Pro"/>
              </a:rPr>
              <a:t>ELEMENT ID — BRIDGING THE GAP BETWEEN ABSTRACT PLANS AND CONCRETE PAGE STATE.</a:t>
            </a:r>
          </a:p>
          <a:p>
            <a:pPr algn="l">
              <a:lnSpc>
                <a:spcPts val="3198"/>
              </a:lnSpc>
              <a:spcBef>
                <a:spcPct val="0"/>
              </a:spcBef>
            </a:pPr>
          </a:p>
          <a:p>
            <a:pPr algn="l">
              <a:lnSpc>
                <a:spcPts val="3198"/>
              </a:lnSpc>
              <a:spcBef>
                <a:spcPct val="0"/>
              </a:spcBef>
            </a:pPr>
            <a:r>
              <a:rPr lang="en-US" b="true" sz="2284">
                <a:solidFill>
                  <a:srgbClr val="252D37"/>
                </a:solidFill>
                <a:latin typeface="Maven Pro Bold"/>
                <a:ea typeface="Maven Pro Bold"/>
                <a:cs typeface="Maven Pro Bold"/>
                <a:sym typeface="Maven Pro Bold"/>
              </a:rPr>
              <a:t>  3. REFLEXION-SENTINEL FEEDBACK LOOP</a:t>
            </a:r>
          </a:p>
          <a:p>
            <a:pPr algn="l" marL="493326" indent="-246663" lvl="1">
              <a:lnSpc>
                <a:spcPts val="3198"/>
              </a:lnSpc>
              <a:spcBef>
                <a:spcPct val="0"/>
              </a:spcBef>
              <a:buFont typeface="Arial"/>
              <a:buChar char="•"/>
            </a:pPr>
            <a:r>
              <a:rPr lang="en-US" b="true" sz="2284">
                <a:solidFill>
                  <a:srgbClr val="252D37"/>
                </a:solidFill>
                <a:latin typeface="Maven Pro Bold"/>
                <a:ea typeface="Maven Pro Bold"/>
                <a:cs typeface="Maven Pro Bold"/>
                <a:sym typeface="Maven Pro Bold"/>
              </a:rPr>
              <a:t> </a:t>
            </a:r>
            <a:r>
              <a:rPr lang="en-US" sz="2284">
                <a:solidFill>
                  <a:srgbClr val="252D37"/>
                </a:solidFill>
                <a:latin typeface="Maven Pro"/>
                <a:ea typeface="Maven Pro"/>
                <a:cs typeface="Maven Pro"/>
                <a:sym typeface="Maven Pro"/>
              </a:rPr>
              <a:t> POST-EXECUTION, REFLEXION COMPARES DREAMER'S PREDICTED STATE AGAINST THE ACTUAL PAGE (MATCH SCORE 0.0–1.0). MISMATCHES BELOW 0.6 THRESHOLD GENERATE CORRECTIVE RULES STORED IN </a:t>
            </a:r>
            <a:r>
              <a:rPr lang="en-US" sz="2284">
                <a:solidFill>
                  <a:srgbClr val="252D37"/>
                </a:solidFill>
                <a:latin typeface="Maven Pro"/>
                <a:ea typeface="Maven Pro"/>
                <a:cs typeface="Maven Pro"/>
                <a:sym typeface="Maven Pro"/>
              </a:rPr>
              <a:t>SESSIONMEMORY. THESE RULES ARE INJECTED INTO BOTH SENTINEL'S SAFETY EVALUATION AND FUTURE PLAN GENERATION PROMPTS — ENABLING WITHIN-SESSION SELF-CORRECTION WITHOUT RETRAINING.</a:t>
            </a:r>
          </a:p>
          <a:p>
            <a:pPr algn="l">
              <a:lnSpc>
                <a:spcPts val="3198"/>
              </a:lnSpc>
              <a:spcBef>
                <a:spcPct val="0"/>
              </a:spcBef>
            </a:pPr>
          </a:p>
          <a:p>
            <a:pPr algn="l">
              <a:lnSpc>
                <a:spcPts val="3198"/>
              </a:lnSpc>
              <a:spcBef>
                <a:spcPct val="0"/>
              </a:spcBef>
            </a:pPr>
            <a:r>
              <a:rPr lang="en-US" b="true" sz="2284">
                <a:solidFill>
                  <a:srgbClr val="252D37"/>
                </a:solidFill>
                <a:latin typeface="Maven Pro Bold"/>
                <a:ea typeface="Maven Pro Bold"/>
                <a:cs typeface="Maven Pro Bold"/>
                <a:sym typeface="Maven Pro Bold"/>
              </a:rPr>
              <a:t>  4. CASCADING ELEMENT RESOLUTION</a:t>
            </a:r>
          </a:p>
          <a:p>
            <a:pPr algn="l" marL="493326" indent="-246663" lvl="1">
              <a:lnSpc>
                <a:spcPts val="3198"/>
              </a:lnSpc>
              <a:spcBef>
                <a:spcPct val="0"/>
              </a:spcBef>
              <a:buFont typeface="Arial"/>
              <a:buChar char="•"/>
            </a:pPr>
            <a:r>
              <a:rPr lang="en-US" b="true" sz="2284">
                <a:solidFill>
                  <a:srgbClr val="252D37"/>
                </a:solidFill>
                <a:latin typeface="Maven Pro Bold"/>
                <a:ea typeface="Maven Pro Bold"/>
                <a:cs typeface="Maven Pro Bold"/>
                <a:sym typeface="Maven Pro Bold"/>
              </a:rPr>
              <a:t>  </a:t>
            </a:r>
            <a:r>
              <a:rPr lang="en-US" sz="2284">
                <a:solidFill>
                  <a:srgbClr val="252D37"/>
                </a:solidFill>
                <a:latin typeface="Maven Pro"/>
                <a:ea typeface="Maven Pro"/>
                <a:cs typeface="Maven Pro"/>
                <a:sym typeface="Maven Pro"/>
              </a:rPr>
              <a:t>FIVE-STRATEGY LOCATOR PIPELINE: GET_BY_ROLE → GET_BY_PLACEHOLDER → GET_BY_LABEL → GET_BY_TEXT → CSS SELECTOR FALLBACK. EACH STRATEGY CHECKS VISIBILITY BEFORE ACCEPTING, PREVENTING </a:t>
            </a:r>
            <a:r>
              <a:rPr lang="en-US" sz="2284">
                <a:solidFill>
                  <a:srgbClr val="252D37"/>
                </a:solidFill>
                <a:latin typeface="Maven Pro"/>
                <a:ea typeface="Maven Pro"/>
                <a:cs typeface="Maven Pro"/>
                <a:sym typeface="Maven Pro"/>
              </a:rPr>
              <a:t>OFF-SCREEN OR OVERLAY-BLOCKED ELEMENTS FROM BEING SELECTED.</a:t>
            </a:r>
          </a:p>
        </p:txBody>
      </p:sp>
    </p:spTree>
  </p:cSld>
  <p:clrMapOvr>
    <a:masterClrMapping/>
  </p:clrMapOvr>
  <p:transition spd="fast">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Freeform 2" id="2"/>
          <p:cNvSpPr/>
          <p:nvPr/>
        </p:nvSpPr>
        <p:spPr>
          <a:xfrm flipH="false" flipV="false" rot="0">
            <a:off x="851638" y="2423547"/>
            <a:ext cx="8292362" cy="6975949"/>
          </a:xfrm>
          <a:custGeom>
            <a:avLst/>
            <a:gdLst/>
            <a:ahLst/>
            <a:cxnLst/>
            <a:rect r="r" b="b" t="t" l="l"/>
            <a:pathLst>
              <a:path h="6975949" w="8292362">
                <a:moveTo>
                  <a:pt x="0" y="0"/>
                </a:moveTo>
                <a:lnTo>
                  <a:pt x="8292362" y="0"/>
                </a:lnTo>
                <a:lnTo>
                  <a:pt x="8292362" y="6975950"/>
                </a:lnTo>
                <a:lnTo>
                  <a:pt x="0" y="6975950"/>
                </a:lnTo>
                <a:lnTo>
                  <a:pt x="0" y="0"/>
                </a:lnTo>
                <a:close/>
              </a:path>
            </a:pathLst>
          </a:custGeom>
          <a:blipFill>
            <a:blip r:embed="rId2"/>
            <a:stretch>
              <a:fillRect l="0" t="0" r="0" b="0"/>
            </a:stretch>
          </a:blipFill>
        </p:spPr>
      </p:sp>
      <p:sp>
        <p:nvSpPr>
          <p:cNvPr name="Freeform 3" id="3"/>
          <p:cNvSpPr/>
          <p:nvPr/>
        </p:nvSpPr>
        <p:spPr>
          <a:xfrm flipH="false" flipV="false" rot="0">
            <a:off x="9248173" y="2423547"/>
            <a:ext cx="8455696" cy="6975949"/>
          </a:xfrm>
          <a:custGeom>
            <a:avLst/>
            <a:gdLst/>
            <a:ahLst/>
            <a:cxnLst/>
            <a:rect r="r" b="b" t="t" l="l"/>
            <a:pathLst>
              <a:path h="6975949" w="8455696">
                <a:moveTo>
                  <a:pt x="0" y="0"/>
                </a:moveTo>
                <a:lnTo>
                  <a:pt x="8455696" y="0"/>
                </a:lnTo>
                <a:lnTo>
                  <a:pt x="8455696" y="6975950"/>
                </a:lnTo>
                <a:lnTo>
                  <a:pt x="0" y="6975950"/>
                </a:lnTo>
                <a:lnTo>
                  <a:pt x="0" y="0"/>
                </a:lnTo>
                <a:close/>
              </a:path>
            </a:pathLst>
          </a:custGeom>
          <a:blipFill>
            <a:blip r:embed="rId3"/>
            <a:stretch>
              <a:fillRect l="0" t="0" r="0" b="0"/>
            </a:stretch>
          </a:blipFill>
        </p:spPr>
      </p:sp>
      <p:sp>
        <p:nvSpPr>
          <p:cNvPr name="TextBox 4" id="4"/>
          <p:cNvSpPr txBox="true"/>
          <p:nvPr/>
        </p:nvSpPr>
        <p:spPr>
          <a:xfrm rot="0">
            <a:off x="5254704" y="258763"/>
            <a:ext cx="7759541" cy="1377949"/>
          </a:xfrm>
          <a:prstGeom prst="rect">
            <a:avLst/>
          </a:prstGeom>
        </p:spPr>
        <p:txBody>
          <a:bodyPr anchor="t" rtlCol="false" tIns="0" lIns="0" bIns="0" rIns="0">
            <a:spAutoFit/>
          </a:bodyPr>
          <a:lstStyle/>
          <a:p>
            <a:pPr algn="ctr">
              <a:lnSpc>
                <a:spcPts val="11200"/>
              </a:lnSpc>
              <a:spcBef>
                <a:spcPct val="0"/>
              </a:spcBef>
            </a:pPr>
            <a:r>
              <a:rPr lang="en-US" b="true" sz="8000">
                <a:solidFill>
                  <a:srgbClr val="252D37"/>
                </a:solidFill>
                <a:latin typeface="Maven Pro Bold"/>
                <a:ea typeface="Maven Pro Bold"/>
                <a:cs typeface="Maven Pro Bold"/>
                <a:sym typeface="Maven Pro Bold"/>
              </a:rPr>
              <a:t>CODE SNIPPETS</a:t>
            </a: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Freeform 2" id="2"/>
          <p:cNvSpPr/>
          <p:nvPr/>
        </p:nvSpPr>
        <p:spPr>
          <a:xfrm flipH="false" flipV="false" rot="0">
            <a:off x="240241" y="2761470"/>
            <a:ext cx="9712808" cy="6094787"/>
          </a:xfrm>
          <a:custGeom>
            <a:avLst/>
            <a:gdLst/>
            <a:ahLst/>
            <a:cxnLst/>
            <a:rect r="r" b="b" t="t" l="l"/>
            <a:pathLst>
              <a:path h="6094787" w="9712808">
                <a:moveTo>
                  <a:pt x="0" y="0"/>
                </a:moveTo>
                <a:lnTo>
                  <a:pt x="9712808" y="0"/>
                </a:lnTo>
                <a:lnTo>
                  <a:pt x="9712808" y="6094787"/>
                </a:lnTo>
                <a:lnTo>
                  <a:pt x="0" y="6094787"/>
                </a:lnTo>
                <a:lnTo>
                  <a:pt x="0" y="0"/>
                </a:lnTo>
                <a:close/>
              </a:path>
            </a:pathLst>
          </a:custGeom>
          <a:blipFill>
            <a:blip r:embed="rId2"/>
            <a:stretch>
              <a:fillRect l="0" t="0" r="0" b="0"/>
            </a:stretch>
          </a:blipFill>
        </p:spPr>
      </p:sp>
      <p:sp>
        <p:nvSpPr>
          <p:cNvPr name="Freeform 3" id="3"/>
          <p:cNvSpPr/>
          <p:nvPr/>
        </p:nvSpPr>
        <p:spPr>
          <a:xfrm flipH="false" flipV="false" rot="0">
            <a:off x="10142453" y="2558162"/>
            <a:ext cx="7671273" cy="6501404"/>
          </a:xfrm>
          <a:custGeom>
            <a:avLst/>
            <a:gdLst/>
            <a:ahLst/>
            <a:cxnLst/>
            <a:rect r="r" b="b" t="t" l="l"/>
            <a:pathLst>
              <a:path h="6501404" w="7671273">
                <a:moveTo>
                  <a:pt x="0" y="0"/>
                </a:moveTo>
                <a:lnTo>
                  <a:pt x="7671273" y="0"/>
                </a:lnTo>
                <a:lnTo>
                  <a:pt x="7671273" y="6501404"/>
                </a:lnTo>
                <a:lnTo>
                  <a:pt x="0" y="6501404"/>
                </a:lnTo>
                <a:lnTo>
                  <a:pt x="0" y="0"/>
                </a:lnTo>
                <a:close/>
              </a:path>
            </a:pathLst>
          </a:custGeom>
          <a:blipFill>
            <a:blip r:embed="rId3"/>
            <a:stretch>
              <a:fillRect l="0" t="0" r="0" b="0"/>
            </a:stretch>
          </a:blipFill>
        </p:spPr>
      </p:sp>
      <p:sp>
        <p:nvSpPr>
          <p:cNvPr name="TextBox 4" id="4"/>
          <p:cNvSpPr txBox="true"/>
          <p:nvPr/>
        </p:nvSpPr>
        <p:spPr>
          <a:xfrm rot="0">
            <a:off x="5254704" y="258763"/>
            <a:ext cx="7759541" cy="1377949"/>
          </a:xfrm>
          <a:prstGeom prst="rect">
            <a:avLst/>
          </a:prstGeom>
        </p:spPr>
        <p:txBody>
          <a:bodyPr anchor="t" rtlCol="false" tIns="0" lIns="0" bIns="0" rIns="0">
            <a:spAutoFit/>
          </a:bodyPr>
          <a:lstStyle/>
          <a:p>
            <a:pPr algn="ctr">
              <a:lnSpc>
                <a:spcPts val="11200"/>
              </a:lnSpc>
              <a:spcBef>
                <a:spcPct val="0"/>
              </a:spcBef>
            </a:pPr>
            <a:r>
              <a:rPr lang="en-US" b="true" sz="8000">
                <a:solidFill>
                  <a:srgbClr val="252D37"/>
                </a:solidFill>
                <a:latin typeface="Maven Pro Bold"/>
                <a:ea typeface="Maven Pro Bold"/>
                <a:cs typeface="Maven Pro Bold"/>
                <a:sym typeface="Maven Pro Bold"/>
              </a:rPr>
              <a:t>CODE SNIPPETS</a:t>
            </a: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3865463" y="258763"/>
            <a:ext cx="10233707" cy="1342833"/>
          </a:xfrm>
          <a:prstGeom prst="rect">
            <a:avLst/>
          </a:prstGeom>
        </p:spPr>
        <p:txBody>
          <a:bodyPr anchor="t" rtlCol="false" tIns="0" lIns="0" bIns="0" rIns="0">
            <a:spAutoFit/>
          </a:bodyPr>
          <a:lstStyle/>
          <a:p>
            <a:pPr algn="ctr">
              <a:lnSpc>
                <a:spcPts val="10876"/>
              </a:lnSpc>
              <a:spcBef>
                <a:spcPct val="0"/>
              </a:spcBef>
            </a:pPr>
            <a:r>
              <a:rPr lang="en-US" b="true" sz="7768">
                <a:solidFill>
                  <a:srgbClr val="252D37"/>
                </a:solidFill>
                <a:latin typeface="Maven Pro Bold"/>
                <a:ea typeface="Maven Pro Bold"/>
                <a:cs typeface="Maven Pro Bold"/>
                <a:sym typeface="Maven Pro Bold"/>
              </a:rPr>
              <a:t>RESULTS &amp; ANALYSIS</a:t>
            </a:r>
          </a:p>
        </p:txBody>
      </p:sp>
      <p:sp>
        <p:nvSpPr>
          <p:cNvPr name="TextBox 3" id="3"/>
          <p:cNvSpPr txBox="true"/>
          <p:nvPr/>
        </p:nvSpPr>
        <p:spPr>
          <a:xfrm rot="0">
            <a:off x="319610" y="2194363"/>
            <a:ext cx="17648781" cy="7565772"/>
          </a:xfrm>
          <a:prstGeom prst="rect">
            <a:avLst/>
          </a:prstGeom>
        </p:spPr>
        <p:txBody>
          <a:bodyPr anchor="t" rtlCol="false" tIns="0" lIns="0" bIns="0" rIns="0">
            <a:spAutoFit/>
          </a:bodyPr>
          <a:lstStyle/>
          <a:p>
            <a:pPr algn="l">
              <a:lnSpc>
                <a:spcPts val="4038"/>
              </a:lnSpc>
              <a:spcBef>
                <a:spcPct val="0"/>
              </a:spcBef>
            </a:pPr>
            <a:r>
              <a:rPr lang="en-US" sz="2884">
                <a:solidFill>
                  <a:srgbClr val="252D37"/>
                </a:solidFill>
                <a:latin typeface="Maven Pro"/>
                <a:ea typeface="Maven Pro"/>
                <a:cs typeface="Maven Pro"/>
                <a:sym typeface="Maven Pro"/>
              </a:rPr>
              <a:t>We</a:t>
            </a:r>
            <a:r>
              <a:rPr lang="en-US" sz="2884">
                <a:solidFill>
                  <a:srgbClr val="252D37"/>
                </a:solidFill>
                <a:latin typeface="Maven Pro"/>
                <a:ea typeface="Maven Pro"/>
                <a:cs typeface="Maven Pro"/>
                <a:sym typeface="Maven Pro"/>
              </a:rPr>
              <a:t> have achieved full implementation</a:t>
            </a:r>
            <a:r>
              <a:rPr lang="en-US" sz="2884">
                <a:solidFill>
                  <a:srgbClr val="252D37"/>
                </a:solidFill>
                <a:latin typeface="Maven Pro"/>
                <a:ea typeface="Maven Pro"/>
                <a:cs typeface="Maven Pro"/>
                <a:sym typeface="Maven Pro"/>
              </a:rPr>
              <a:t> of the proposed architecture, with the core Controller module now fully functional for generating state perceptions and diverse candidate actions . The World Model and Execution modules </a:t>
            </a:r>
            <a:r>
              <a:rPr lang="en-US" sz="2884">
                <a:solidFill>
                  <a:srgbClr val="252D37"/>
                </a:solidFill>
                <a:latin typeface="Maven Pro"/>
                <a:ea typeface="Maven Pro"/>
                <a:cs typeface="Maven Pro"/>
                <a:sym typeface="Maven Pro"/>
              </a:rPr>
              <a:t>are also actively functional, effectively predicting structural state changes into the future and executing physical browser commands via</a:t>
            </a:r>
            <a:r>
              <a:rPr lang="en-US" sz="2884">
                <a:solidFill>
                  <a:srgbClr val="252D37"/>
                </a:solidFill>
                <a:latin typeface="Maven Pro"/>
                <a:ea typeface="Maven Pro"/>
                <a:cs typeface="Maven Pro"/>
                <a:sym typeface="Maven Pro"/>
              </a:rPr>
              <a:t> Playwright . Furthermore, the critical value function components—the Sentinel safety filter and the Scorer module—have been successfully integrated and are currently undergoing rigorous testing to ensure robust threat detection and goal a</a:t>
            </a:r>
            <a:r>
              <a:rPr lang="en-US" sz="2884">
                <a:solidFill>
                  <a:srgbClr val="252D37"/>
                </a:solidFill>
                <a:latin typeface="Maven Pro"/>
                <a:ea typeface="Maven Pro"/>
                <a:cs typeface="Maven Pro"/>
                <a:sym typeface="Maven Pro"/>
              </a:rPr>
              <a:t>lignment .</a:t>
            </a:r>
          </a:p>
          <a:p>
            <a:pPr algn="l">
              <a:lnSpc>
                <a:spcPts val="4038"/>
              </a:lnSpc>
              <a:spcBef>
                <a:spcPct val="0"/>
              </a:spcBef>
            </a:pPr>
          </a:p>
          <a:p>
            <a:pPr algn="l" marL="622862" indent="-311431" lvl="1">
              <a:lnSpc>
                <a:spcPts val="4038"/>
              </a:lnSpc>
              <a:buFont typeface="Arial"/>
              <a:buChar char="•"/>
            </a:pPr>
            <a:r>
              <a:rPr lang="en-US" sz="2884">
                <a:solidFill>
                  <a:srgbClr val="252D37"/>
                </a:solidFill>
                <a:latin typeface="Maven Pro"/>
                <a:ea typeface="Maven Pro"/>
                <a:cs typeface="Maven Pro"/>
                <a:sym typeface="Maven Pro"/>
              </a:rPr>
              <a:t>Plan-First achieves a higher success rate — pre-computing the full action sequence avoids the reactive mode's tendency to get stuck in loops (e.g. nav_2: reactive clicked the same element 8 times in a row)</a:t>
            </a:r>
          </a:p>
          <a:p>
            <a:pPr algn="l" marL="622862" indent="-311431" lvl="1">
              <a:lnSpc>
                <a:spcPts val="4038"/>
              </a:lnSpc>
              <a:buFont typeface="Arial"/>
              <a:buChar char="•"/>
            </a:pPr>
            <a:r>
              <a:rPr lang="en-US" sz="2884">
                <a:solidFill>
                  <a:srgbClr val="252D37"/>
                </a:solidFill>
                <a:latin typeface="Maven Pro"/>
                <a:ea typeface="Maven Pro"/>
                <a:cs typeface="Maven Pro"/>
                <a:sym typeface="Maven Pro"/>
              </a:rPr>
              <a:t> Reactive-Dreamer uses 80% more steps — without a plan, Dreamer proposes exploratory actions that don't converge. On search_1, reactive took 10 steps (9 failed clicks) vs plan-first's 2 steps</a:t>
            </a:r>
          </a:p>
          <a:p>
            <a:pPr algn="l" marL="622862" indent="-311431" lvl="1">
              <a:lnSpc>
                <a:spcPts val="4038"/>
              </a:lnSpc>
              <a:buFont typeface="Arial"/>
              <a:buChar char="•"/>
            </a:pPr>
            <a:r>
              <a:rPr lang="en-US" sz="2884">
                <a:solidFill>
                  <a:srgbClr val="252D37"/>
                </a:solidFill>
                <a:latin typeface="Maven Pro"/>
                <a:ea typeface="Maven Pro"/>
                <a:cs typeface="Maven Pro"/>
                <a:sym typeface="Maven Pro"/>
              </a:rPr>
              <a:t> Plan-First has higher latency but lower execution time — ~60-80s planning overhead, but execution is fast (pre-computed path). Reactive has no planning overhead but wastes time on failed actions (25s per timeout)</a:t>
            </a:r>
          </a:p>
        </p:txBody>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Freeform 2" id="2"/>
          <p:cNvSpPr/>
          <p:nvPr/>
        </p:nvSpPr>
        <p:spPr>
          <a:xfrm flipH="false" flipV="false" rot="0">
            <a:off x="1829092" y="2230965"/>
            <a:ext cx="6720791" cy="5023791"/>
          </a:xfrm>
          <a:custGeom>
            <a:avLst/>
            <a:gdLst/>
            <a:ahLst/>
            <a:cxnLst/>
            <a:rect r="r" b="b" t="t" l="l"/>
            <a:pathLst>
              <a:path h="5023791" w="6720791">
                <a:moveTo>
                  <a:pt x="0" y="0"/>
                </a:moveTo>
                <a:lnTo>
                  <a:pt x="6720791" y="0"/>
                </a:lnTo>
                <a:lnTo>
                  <a:pt x="6720791" y="5023791"/>
                </a:lnTo>
                <a:lnTo>
                  <a:pt x="0" y="5023791"/>
                </a:lnTo>
                <a:lnTo>
                  <a:pt x="0" y="0"/>
                </a:lnTo>
                <a:close/>
              </a:path>
            </a:pathLst>
          </a:custGeom>
          <a:blipFill>
            <a:blip r:embed="rId2"/>
            <a:stretch>
              <a:fillRect l="0" t="0" r="0" b="0"/>
            </a:stretch>
          </a:blipFill>
        </p:spPr>
      </p:sp>
      <p:sp>
        <p:nvSpPr>
          <p:cNvPr name="Freeform 3" id="3"/>
          <p:cNvSpPr/>
          <p:nvPr/>
        </p:nvSpPr>
        <p:spPr>
          <a:xfrm flipH="false" flipV="false" rot="0">
            <a:off x="9144000" y="2123350"/>
            <a:ext cx="7008722" cy="5239020"/>
          </a:xfrm>
          <a:custGeom>
            <a:avLst/>
            <a:gdLst/>
            <a:ahLst/>
            <a:cxnLst/>
            <a:rect r="r" b="b" t="t" l="l"/>
            <a:pathLst>
              <a:path h="5239020" w="7008722">
                <a:moveTo>
                  <a:pt x="0" y="0"/>
                </a:moveTo>
                <a:lnTo>
                  <a:pt x="7008722" y="0"/>
                </a:lnTo>
                <a:lnTo>
                  <a:pt x="7008722" y="5239020"/>
                </a:lnTo>
                <a:lnTo>
                  <a:pt x="0" y="5239020"/>
                </a:lnTo>
                <a:lnTo>
                  <a:pt x="0" y="0"/>
                </a:lnTo>
                <a:close/>
              </a:path>
            </a:pathLst>
          </a:custGeom>
          <a:blipFill>
            <a:blip r:embed="rId3"/>
            <a:stretch>
              <a:fillRect l="0" t="0" r="0" b="0"/>
            </a:stretch>
          </a:blipFill>
        </p:spPr>
      </p:sp>
      <p:sp>
        <p:nvSpPr>
          <p:cNvPr name="TextBox 4" id="4"/>
          <p:cNvSpPr txBox="true"/>
          <p:nvPr/>
        </p:nvSpPr>
        <p:spPr>
          <a:xfrm rot="0">
            <a:off x="2345000" y="851627"/>
            <a:ext cx="13437088" cy="1730376"/>
          </a:xfrm>
          <a:prstGeom prst="rect">
            <a:avLst/>
          </a:prstGeom>
        </p:spPr>
        <p:txBody>
          <a:bodyPr anchor="t" rtlCol="false" tIns="0" lIns="0" bIns="0" rIns="0">
            <a:spAutoFit/>
          </a:bodyPr>
          <a:lstStyle/>
          <a:p>
            <a:pPr algn="ctr">
              <a:lnSpc>
                <a:spcPts val="6400"/>
              </a:lnSpc>
            </a:pPr>
            <a:r>
              <a:rPr lang="en-US" b="true" sz="8000">
                <a:solidFill>
                  <a:srgbClr val="252D37"/>
                </a:solidFill>
                <a:latin typeface="Maven Pro Bold"/>
                <a:ea typeface="Maven Pro Bold"/>
                <a:cs typeface="Maven Pro Bold"/>
                <a:sym typeface="Maven Pro Bold"/>
              </a:rPr>
              <a:t>PERFORMANCE METRICS</a:t>
            </a:r>
          </a:p>
          <a:p>
            <a:pPr algn="ctr">
              <a:lnSpc>
                <a:spcPts val="6400"/>
              </a:lnSpc>
            </a:pPr>
          </a:p>
        </p:txBody>
      </p:sp>
      <p:sp>
        <p:nvSpPr>
          <p:cNvPr name="TextBox 5" id="5"/>
          <p:cNvSpPr txBox="true"/>
          <p:nvPr/>
        </p:nvSpPr>
        <p:spPr>
          <a:xfrm rot="0">
            <a:off x="675206" y="7380585"/>
            <a:ext cx="16584094" cy="2609946"/>
          </a:xfrm>
          <a:prstGeom prst="rect">
            <a:avLst/>
          </a:prstGeom>
        </p:spPr>
        <p:txBody>
          <a:bodyPr anchor="t" rtlCol="false" tIns="0" lIns="0" bIns="0" rIns="0">
            <a:spAutoFit/>
          </a:bodyPr>
          <a:lstStyle/>
          <a:p>
            <a:pPr algn="l">
              <a:lnSpc>
                <a:spcPts val="4194"/>
              </a:lnSpc>
            </a:pPr>
            <a:r>
              <a:rPr lang="en-US" sz="2996">
                <a:solidFill>
                  <a:srgbClr val="252D37"/>
                </a:solidFill>
                <a:latin typeface="Maven Pro"/>
                <a:ea typeface="Maven Pro"/>
                <a:cs typeface="Maven Pro"/>
                <a:sym typeface="Maven Pro"/>
              </a:rPr>
              <a:t>The criteria we have evaluated our implementation on is the Overall Pass Ratio of the tasks and the total number of steps taken</a:t>
            </a:r>
          </a:p>
          <a:p>
            <a:pPr algn="l" marL="646886" indent="-323443" lvl="1">
              <a:lnSpc>
                <a:spcPts val="4194"/>
              </a:lnSpc>
              <a:buAutoNum type="arabicPeriod" startAt="1"/>
            </a:pPr>
            <a:r>
              <a:rPr lang="en-US" sz="2996">
                <a:solidFill>
                  <a:srgbClr val="252D37"/>
                </a:solidFill>
                <a:latin typeface="Maven Pro"/>
                <a:ea typeface="Maven Pro"/>
                <a:cs typeface="Maven Pro"/>
                <a:sym typeface="Maven Pro"/>
              </a:rPr>
              <a:t>As expected the plan first approach has a much higher success rate on our 7 task subset than the reactive approach.</a:t>
            </a:r>
          </a:p>
          <a:p>
            <a:pPr algn="l" marL="646886" indent="-323443" lvl="1">
              <a:lnSpc>
                <a:spcPts val="4194"/>
              </a:lnSpc>
              <a:spcBef>
                <a:spcPct val="0"/>
              </a:spcBef>
              <a:buAutoNum type="arabicPeriod" startAt="1"/>
            </a:pPr>
            <a:r>
              <a:rPr lang="en-US" sz="2996">
                <a:solidFill>
                  <a:srgbClr val="252D37"/>
                </a:solidFill>
                <a:latin typeface="Maven Pro"/>
                <a:ea typeface="Maven Pro"/>
                <a:cs typeface="Maven Pro"/>
                <a:sym typeface="Maven Pro"/>
              </a:rPr>
              <a:t>Again as expected the plan first approach has less steps as the reactive approach</a:t>
            </a:r>
          </a:p>
        </p:txBody>
      </p:sp>
    </p:spTree>
  </p:cSld>
  <p:clrMapOvr>
    <a:masterClrMapping/>
  </p:clrMapOvr>
  <p:transition spd="slow">
    <p:push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Freeform 2" id="2"/>
          <p:cNvSpPr/>
          <p:nvPr/>
        </p:nvSpPr>
        <p:spPr>
          <a:xfrm flipH="false" flipV="false" rot="0">
            <a:off x="2237850" y="1843259"/>
            <a:ext cx="13300718" cy="6600481"/>
          </a:xfrm>
          <a:custGeom>
            <a:avLst/>
            <a:gdLst/>
            <a:ahLst/>
            <a:cxnLst/>
            <a:rect r="r" b="b" t="t" l="l"/>
            <a:pathLst>
              <a:path h="6600481" w="13300718">
                <a:moveTo>
                  <a:pt x="0" y="0"/>
                </a:moveTo>
                <a:lnTo>
                  <a:pt x="13300718" y="0"/>
                </a:lnTo>
                <a:lnTo>
                  <a:pt x="13300718" y="6600482"/>
                </a:lnTo>
                <a:lnTo>
                  <a:pt x="0" y="6600482"/>
                </a:lnTo>
                <a:lnTo>
                  <a:pt x="0" y="0"/>
                </a:lnTo>
                <a:close/>
              </a:path>
            </a:pathLst>
          </a:custGeom>
          <a:blipFill>
            <a:blip r:embed="rId2"/>
            <a:stretch>
              <a:fillRect l="0" t="0" r="0" b="0"/>
            </a:stretch>
          </a:blipFill>
        </p:spPr>
      </p:sp>
      <p:sp>
        <p:nvSpPr>
          <p:cNvPr name="TextBox 3" id="3"/>
          <p:cNvSpPr txBox="true"/>
          <p:nvPr/>
        </p:nvSpPr>
        <p:spPr>
          <a:xfrm rot="0">
            <a:off x="2425456" y="600272"/>
            <a:ext cx="13437088" cy="1691644"/>
          </a:xfrm>
          <a:prstGeom prst="rect">
            <a:avLst/>
          </a:prstGeom>
        </p:spPr>
        <p:txBody>
          <a:bodyPr anchor="t" rtlCol="false" tIns="0" lIns="0" bIns="0" rIns="0">
            <a:spAutoFit/>
          </a:bodyPr>
          <a:lstStyle/>
          <a:p>
            <a:pPr algn="ctr">
              <a:lnSpc>
                <a:spcPts val="6240"/>
              </a:lnSpc>
            </a:pPr>
            <a:r>
              <a:rPr lang="en-US" b="true" sz="7800">
                <a:solidFill>
                  <a:srgbClr val="252D37"/>
                </a:solidFill>
                <a:latin typeface="Maven Pro Bold"/>
                <a:ea typeface="Maven Pro Bold"/>
                <a:cs typeface="Maven Pro Bold"/>
                <a:sym typeface="Maven Pro Bold"/>
              </a:rPr>
              <a:t>PERFORMANCE METRICS</a:t>
            </a:r>
          </a:p>
          <a:p>
            <a:pPr algn="ctr">
              <a:lnSpc>
                <a:spcPts val="6240"/>
              </a:lnSpc>
            </a:pPr>
          </a:p>
        </p:txBody>
      </p:sp>
      <p:sp>
        <p:nvSpPr>
          <p:cNvPr name="TextBox 4" id="4"/>
          <p:cNvSpPr txBox="true"/>
          <p:nvPr/>
        </p:nvSpPr>
        <p:spPr>
          <a:xfrm rot="0">
            <a:off x="489183" y="8396116"/>
            <a:ext cx="17575589" cy="1663160"/>
          </a:xfrm>
          <a:prstGeom prst="rect">
            <a:avLst/>
          </a:prstGeom>
        </p:spPr>
        <p:txBody>
          <a:bodyPr anchor="t" rtlCol="false" tIns="0" lIns="0" bIns="0" rIns="0">
            <a:spAutoFit/>
          </a:bodyPr>
          <a:lstStyle/>
          <a:p>
            <a:pPr algn="l">
              <a:lnSpc>
                <a:spcPts val="3354"/>
              </a:lnSpc>
              <a:spcBef>
                <a:spcPct val="0"/>
              </a:spcBef>
            </a:pPr>
            <a:r>
              <a:rPr lang="en-US" sz="2396">
                <a:solidFill>
                  <a:srgbClr val="252D37"/>
                </a:solidFill>
                <a:latin typeface="Maven Pro"/>
                <a:ea typeface="Maven Pro"/>
                <a:cs typeface="Maven Pro"/>
                <a:sym typeface="Maven Pro"/>
              </a:rPr>
              <a:t>This bar chart highlights how the Plan-First model prevents the severe inefficiencies seen in the Reactive-Dreamer architecture during complex tasks. While the reactive model gets stuck in loops and hits a 10-step cap on tasks like "Search 1" and "Nav 1," the planning model efficiently completes them in just 2 to 4 steps. Even though it occasionally takes an extra step o</a:t>
            </a:r>
            <a:r>
              <a:rPr lang="en-US" sz="2396">
                <a:solidFill>
                  <a:srgbClr val="252D37"/>
                </a:solidFill>
                <a:latin typeface="Maven Pro"/>
                <a:ea typeface="Maven Pro"/>
                <a:cs typeface="Maven Pro"/>
                <a:sym typeface="Maven Pro"/>
              </a:rPr>
              <a:t>n a few simpler tasks, the Plan-First approach delivers vastly superior reliability overall.</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11276977" y="2138476"/>
            <a:ext cx="7011023" cy="8415350"/>
          </a:xfrm>
          <a:prstGeom prst="rect">
            <a:avLst/>
          </a:prstGeom>
        </p:spPr>
        <p:txBody>
          <a:bodyPr anchor="t" rtlCol="false" tIns="0" lIns="0" bIns="0" rIns="0">
            <a:spAutoFit/>
          </a:bodyPr>
          <a:lstStyle/>
          <a:p>
            <a:pPr algn="l" marL="607117" indent="-303558" lvl="1">
              <a:lnSpc>
                <a:spcPts val="3936"/>
              </a:lnSpc>
              <a:spcBef>
                <a:spcPct val="0"/>
              </a:spcBef>
              <a:buFont typeface="Arial"/>
              <a:buChar char="•"/>
            </a:pPr>
            <a:r>
              <a:rPr lang="en-US" sz="2812">
                <a:solidFill>
                  <a:srgbClr val="252D37"/>
                </a:solidFill>
                <a:latin typeface="Maven Pro"/>
                <a:ea typeface="Maven Pro"/>
                <a:cs typeface="Maven Pro"/>
                <a:sym typeface="Maven Pro"/>
              </a:rPr>
              <a:t>T</a:t>
            </a:r>
            <a:r>
              <a:rPr lang="en-US" sz="2812">
                <a:solidFill>
                  <a:srgbClr val="252D37"/>
                </a:solidFill>
                <a:latin typeface="Maven Pro"/>
                <a:ea typeface="Maven Pro"/>
                <a:cs typeface="Maven Pro"/>
                <a:sym typeface="Maven Pro"/>
              </a:rPr>
              <a:t>o validate the implementation, the system was tested on real-world e-commerce and information-seeking tasks.</a:t>
            </a:r>
          </a:p>
          <a:p>
            <a:pPr algn="l" marL="607117" indent="-303558" lvl="1">
              <a:lnSpc>
                <a:spcPts val="3936"/>
              </a:lnSpc>
              <a:spcBef>
                <a:spcPct val="0"/>
              </a:spcBef>
              <a:buFont typeface="Arial"/>
              <a:buChar char="•"/>
            </a:pPr>
            <a:r>
              <a:rPr lang="en-US" sz="2812">
                <a:solidFill>
                  <a:srgbClr val="252D37"/>
                </a:solidFill>
                <a:latin typeface="Maven Pro"/>
                <a:ea typeface="Maven Pro"/>
                <a:cs typeface="Maven Pro"/>
                <a:sym typeface="Maven Pro"/>
              </a:rPr>
              <a:t>Th</a:t>
            </a:r>
            <a:r>
              <a:rPr lang="en-US" sz="2812">
                <a:solidFill>
                  <a:srgbClr val="252D37"/>
                </a:solidFill>
                <a:latin typeface="Maven Pro"/>
                <a:ea typeface="Maven Pro"/>
                <a:cs typeface="Maven Pro"/>
                <a:sym typeface="Maven Pro"/>
              </a:rPr>
              <a:t>e outputs confirm the agent successfully evaluates multiple candidate actions (e.g., "click search" vs. "navigate to category"), simulates the respective HTML/accessibility changes, passes them through the Sentinel, and confidently executes the optimal path.</a:t>
            </a:r>
          </a:p>
          <a:p>
            <a:pPr algn="l" marL="607117" indent="-303558" lvl="1">
              <a:lnSpc>
                <a:spcPts val="3936"/>
              </a:lnSpc>
              <a:spcBef>
                <a:spcPct val="0"/>
              </a:spcBef>
              <a:buFont typeface="Arial"/>
              <a:buChar char="•"/>
            </a:pPr>
            <a:r>
              <a:rPr lang="en-US" sz="2812">
                <a:solidFill>
                  <a:srgbClr val="252D37"/>
                </a:solidFill>
                <a:latin typeface="Maven Pro"/>
                <a:ea typeface="Maven Pro"/>
                <a:cs typeface="Maven Pro"/>
                <a:sym typeface="Maven Pro"/>
              </a:rPr>
              <a:t>The integration effectively avoids the common "infinite loop" traps seen in purely reactive agents by looking ahead.</a:t>
            </a:r>
          </a:p>
          <a:p>
            <a:pPr algn="l">
              <a:lnSpc>
                <a:spcPts val="3936"/>
              </a:lnSpc>
              <a:spcBef>
                <a:spcPct val="0"/>
              </a:spcBef>
            </a:pPr>
          </a:p>
        </p:txBody>
      </p:sp>
      <p:sp>
        <p:nvSpPr>
          <p:cNvPr name="TextBox 3" id="3"/>
          <p:cNvSpPr txBox="true"/>
          <p:nvPr/>
        </p:nvSpPr>
        <p:spPr>
          <a:xfrm rot="0">
            <a:off x="1068819" y="431353"/>
            <a:ext cx="16150363" cy="1377949"/>
          </a:xfrm>
          <a:prstGeom prst="rect">
            <a:avLst/>
          </a:prstGeom>
        </p:spPr>
        <p:txBody>
          <a:bodyPr anchor="t" rtlCol="false" tIns="0" lIns="0" bIns="0" rIns="0">
            <a:spAutoFit/>
          </a:bodyPr>
          <a:lstStyle/>
          <a:p>
            <a:pPr algn="ctr">
              <a:lnSpc>
                <a:spcPts val="11200"/>
              </a:lnSpc>
              <a:spcBef>
                <a:spcPct val="0"/>
              </a:spcBef>
            </a:pPr>
            <a:r>
              <a:rPr lang="en-US" b="true" sz="8000">
                <a:solidFill>
                  <a:srgbClr val="252D37"/>
                </a:solidFill>
                <a:latin typeface="Maven Pro Bold"/>
                <a:ea typeface="Maven Pro Bold"/>
                <a:cs typeface="Maven Pro Bold"/>
                <a:sym typeface="Maven Pro Bold"/>
              </a:rPr>
              <a:t>TESTING OUTCOMES</a:t>
            </a:r>
          </a:p>
        </p:txBody>
      </p:sp>
      <p:sp>
        <p:nvSpPr>
          <p:cNvPr name="Freeform 4" id="4"/>
          <p:cNvSpPr/>
          <p:nvPr/>
        </p:nvSpPr>
        <p:spPr>
          <a:xfrm flipH="false" flipV="false" rot="0">
            <a:off x="707517" y="2335367"/>
            <a:ext cx="10585938" cy="7476319"/>
          </a:xfrm>
          <a:custGeom>
            <a:avLst/>
            <a:gdLst/>
            <a:ahLst/>
            <a:cxnLst/>
            <a:rect r="r" b="b" t="t" l="l"/>
            <a:pathLst>
              <a:path h="7476319" w="10585938">
                <a:moveTo>
                  <a:pt x="0" y="0"/>
                </a:moveTo>
                <a:lnTo>
                  <a:pt x="10585938" y="0"/>
                </a:lnTo>
                <a:lnTo>
                  <a:pt x="10585938" y="7476319"/>
                </a:lnTo>
                <a:lnTo>
                  <a:pt x="0" y="7476319"/>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2222750" y="144383"/>
            <a:ext cx="13304540" cy="1377949"/>
          </a:xfrm>
          <a:prstGeom prst="rect">
            <a:avLst/>
          </a:prstGeom>
        </p:spPr>
        <p:txBody>
          <a:bodyPr anchor="t" rtlCol="false" tIns="0" lIns="0" bIns="0" rIns="0">
            <a:spAutoFit/>
          </a:bodyPr>
          <a:lstStyle/>
          <a:p>
            <a:pPr algn="ctr">
              <a:lnSpc>
                <a:spcPts val="11200"/>
              </a:lnSpc>
              <a:spcBef>
                <a:spcPct val="0"/>
              </a:spcBef>
            </a:pPr>
            <a:r>
              <a:rPr lang="en-US" b="true" sz="8000">
                <a:solidFill>
                  <a:srgbClr val="000000"/>
                </a:solidFill>
                <a:latin typeface="Maven Pro Bold"/>
                <a:ea typeface="Maven Pro Bold"/>
                <a:cs typeface="Maven Pro Bold"/>
                <a:sym typeface="Maven Pro Bold"/>
              </a:rPr>
              <a:t>CHALLENGES &amp; SOLUTIONS</a:t>
            </a:r>
          </a:p>
        </p:txBody>
      </p:sp>
      <p:sp>
        <p:nvSpPr>
          <p:cNvPr name="TextBox 3" id="3"/>
          <p:cNvSpPr txBox="true"/>
          <p:nvPr/>
        </p:nvSpPr>
        <p:spPr>
          <a:xfrm rot="0">
            <a:off x="422169" y="1455658"/>
            <a:ext cx="17164627" cy="8735805"/>
          </a:xfrm>
          <a:prstGeom prst="rect">
            <a:avLst/>
          </a:prstGeom>
        </p:spPr>
        <p:txBody>
          <a:bodyPr anchor="t" rtlCol="false" tIns="0" lIns="0" bIns="0" rIns="0">
            <a:spAutoFit/>
          </a:bodyPr>
          <a:lstStyle/>
          <a:p>
            <a:pPr algn="l">
              <a:lnSpc>
                <a:spcPts val="4123"/>
              </a:lnSpc>
            </a:pPr>
          </a:p>
          <a:p>
            <a:pPr algn="l">
              <a:lnSpc>
                <a:spcPts val="4123"/>
              </a:lnSpc>
            </a:pPr>
            <a:r>
              <a:rPr lang="en-US" sz="2945">
                <a:solidFill>
                  <a:srgbClr val="000000"/>
                </a:solidFill>
                <a:latin typeface="Maven Pro"/>
                <a:ea typeface="Maven Pro"/>
                <a:cs typeface="Maven Pro"/>
                <a:sym typeface="Maven Pro"/>
              </a:rPr>
              <a:t>Current web agents </a:t>
            </a:r>
            <a:r>
              <a:rPr lang="en-US" b="true" sz="2945">
                <a:solidFill>
                  <a:srgbClr val="000000"/>
                </a:solidFill>
                <a:latin typeface="Maven Pro Bold"/>
                <a:ea typeface="Maven Pro Bold"/>
                <a:cs typeface="Maven Pro Bold"/>
                <a:sym typeface="Maven Pro Bold"/>
              </a:rPr>
              <a:t>blindly interact</a:t>
            </a:r>
            <a:r>
              <a:rPr lang="en-US" sz="2945">
                <a:solidFill>
                  <a:srgbClr val="000000"/>
                </a:solidFill>
                <a:latin typeface="Maven Pro"/>
                <a:ea typeface="Maven Pro"/>
                <a:cs typeface="Maven Pro"/>
                <a:sym typeface="Maven Pro"/>
              </a:rPr>
              <a:t> </a:t>
            </a:r>
            <a:r>
              <a:rPr lang="en-US" sz="2945">
                <a:solidFill>
                  <a:srgbClr val="000000"/>
                </a:solidFill>
                <a:latin typeface="Maven Pro"/>
                <a:ea typeface="Maven Pro"/>
                <a:cs typeface="Maven Pro"/>
                <a:sym typeface="Maven Pro"/>
              </a:rPr>
              <a:t>with</a:t>
            </a:r>
            <a:r>
              <a:rPr lang="en-US" sz="2945">
                <a:solidFill>
                  <a:srgbClr val="000000"/>
                </a:solidFill>
                <a:latin typeface="Maven Pro"/>
                <a:ea typeface="Maven Pro"/>
                <a:cs typeface="Maven Pro"/>
                <a:sym typeface="Maven Pro"/>
              </a:rPr>
              <a:t> t</a:t>
            </a:r>
            <a:r>
              <a:rPr lang="en-US" sz="2945">
                <a:solidFill>
                  <a:srgbClr val="000000"/>
                </a:solidFill>
                <a:latin typeface="Maven Pro"/>
                <a:ea typeface="Maven Pro"/>
                <a:cs typeface="Maven Pro"/>
                <a:sym typeface="Maven Pro"/>
              </a:rPr>
              <a:t>h</a:t>
            </a:r>
            <a:r>
              <a:rPr lang="en-US" sz="2945">
                <a:solidFill>
                  <a:srgbClr val="000000"/>
                </a:solidFill>
                <a:latin typeface="Maven Pro"/>
                <a:ea typeface="Maven Pro"/>
                <a:cs typeface="Maven Pro"/>
                <a:sym typeface="Maven Pro"/>
              </a:rPr>
              <a:t>e internet</a:t>
            </a:r>
            <a:r>
              <a:rPr lang="en-US" sz="2945">
                <a:solidFill>
                  <a:srgbClr val="000000"/>
                </a:solidFill>
                <a:latin typeface="Maven Pro"/>
                <a:ea typeface="Maven Pro"/>
                <a:cs typeface="Maven Pro"/>
                <a:sym typeface="Maven Pro"/>
              </a:rPr>
              <a:t>,</a:t>
            </a:r>
            <a:r>
              <a:rPr lang="en-US" sz="2945">
                <a:solidFill>
                  <a:srgbClr val="000000"/>
                </a:solidFill>
                <a:latin typeface="Maven Pro"/>
                <a:ea typeface="Maven Pro"/>
                <a:cs typeface="Maven Pro"/>
                <a:sym typeface="Maven Pro"/>
              </a:rPr>
              <a:t> </a:t>
            </a:r>
            <a:r>
              <a:rPr lang="en-US" sz="2945">
                <a:solidFill>
                  <a:srgbClr val="000000"/>
                </a:solidFill>
                <a:latin typeface="Maven Pro"/>
                <a:ea typeface="Maven Pro"/>
                <a:cs typeface="Maven Pro"/>
                <a:sym typeface="Maven Pro"/>
              </a:rPr>
              <a:t>m</a:t>
            </a:r>
            <a:r>
              <a:rPr lang="en-US" sz="2945">
                <a:solidFill>
                  <a:srgbClr val="000000"/>
                </a:solidFill>
                <a:latin typeface="Maven Pro"/>
                <a:ea typeface="Maven Pro"/>
                <a:cs typeface="Maven Pro"/>
                <a:sym typeface="Maven Pro"/>
              </a:rPr>
              <a:t>a</a:t>
            </a:r>
            <a:r>
              <a:rPr lang="en-US" sz="2945">
                <a:solidFill>
                  <a:srgbClr val="000000"/>
                </a:solidFill>
                <a:latin typeface="Maven Pro"/>
                <a:ea typeface="Maven Pro"/>
                <a:cs typeface="Maven Pro"/>
                <a:sym typeface="Maven Pro"/>
              </a:rPr>
              <a:t>k</a:t>
            </a:r>
            <a:r>
              <a:rPr lang="en-US" sz="2945">
                <a:solidFill>
                  <a:srgbClr val="000000"/>
                </a:solidFill>
                <a:latin typeface="Maven Pro"/>
                <a:ea typeface="Maven Pro"/>
                <a:cs typeface="Maven Pro"/>
                <a:sym typeface="Maven Pro"/>
              </a:rPr>
              <a:t>ing </a:t>
            </a:r>
            <a:r>
              <a:rPr lang="en-US" sz="2945">
                <a:solidFill>
                  <a:srgbClr val="000000"/>
                </a:solidFill>
                <a:latin typeface="Maven Pro"/>
                <a:ea typeface="Maven Pro"/>
                <a:cs typeface="Maven Pro"/>
                <a:sym typeface="Maven Pro"/>
              </a:rPr>
              <a:t>t</a:t>
            </a:r>
            <a:r>
              <a:rPr lang="en-US" sz="2945">
                <a:solidFill>
                  <a:srgbClr val="000000"/>
                </a:solidFill>
                <a:latin typeface="Maven Pro"/>
                <a:ea typeface="Maven Pro"/>
                <a:cs typeface="Maven Pro"/>
                <a:sym typeface="Maven Pro"/>
              </a:rPr>
              <a:t>he</a:t>
            </a:r>
            <a:r>
              <a:rPr lang="en-US" sz="2945">
                <a:solidFill>
                  <a:srgbClr val="000000"/>
                </a:solidFill>
                <a:latin typeface="Maven Pro"/>
                <a:ea typeface="Maven Pro"/>
                <a:cs typeface="Maven Pro"/>
                <a:sym typeface="Maven Pro"/>
              </a:rPr>
              <a:t>m highly vulnerable to malicious environments. They cannot anticipate risks and often unknowingly perform harmful actions, such as entering credentials into phishing pages, downloading malicious files, or falling for manipulative UI designs known as "dark patterns". Furthermore, rigid rule-based bots fail entirely when websites dynamically update their layouts or when tasks require general reasoning.</a:t>
            </a:r>
          </a:p>
          <a:p>
            <a:pPr algn="l">
              <a:lnSpc>
                <a:spcPts val="4123"/>
              </a:lnSpc>
            </a:pPr>
          </a:p>
          <a:p>
            <a:pPr algn="l">
              <a:lnSpc>
                <a:spcPts val="4123"/>
              </a:lnSpc>
            </a:pPr>
            <a:r>
              <a:rPr lang="en-US" sz="2945">
                <a:solidFill>
                  <a:srgbClr val="000000"/>
                </a:solidFill>
                <a:latin typeface="Maven Pro"/>
                <a:ea typeface="Maven Pro"/>
                <a:cs typeface="Maven Pro"/>
                <a:sym typeface="Maven Pro"/>
              </a:rPr>
              <a:t>Our framework addresses these vulnerabilities through the </a:t>
            </a:r>
            <a:r>
              <a:rPr lang="en-US" b="true" sz="2945">
                <a:solidFill>
                  <a:srgbClr val="000000"/>
                </a:solidFill>
                <a:latin typeface="Maven Pro Bold"/>
                <a:ea typeface="Maven Pro Bold"/>
                <a:cs typeface="Maven Pro Bold"/>
                <a:sym typeface="Maven Pro Bold"/>
              </a:rPr>
              <a:t>Sentinel Safety Module</a:t>
            </a:r>
            <a:r>
              <a:rPr lang="en-US" sz="2945">
                <a:solidFill>
                  <a:srgbClr val="000000"/>
                </a:solidFill>
                <a:latin typeface="Maven Pro"/>
                <a:ea typeface="Maven Pro"/>
                <a:cs typeface="Maven Pro"/>
                <a:sym typeface="Maven Pro"/>
              </a:rPr>
              <a:t>, which acts as a strict, pre-action assessment gate.</a:t>
            </a:r>
          </a:p>
          <a:p>
            <a:pPr algn="l">
              <a:lnSpc>
                <a:spcPts val="4123"/>
              </a:lnSpc>
            </a:pPr>
          </a:p>
          <a:p>
            <a:pPr algn="l" marL="635973" indent="-317987" lvl="1">
              <a:lnSpc>
                <a:spcPts val="4123"/>
              </a:lnSpc>
              <a:buFont typeface="Arial"/>
              <a:buChar char="•"/>
            </a:pPr>
            <a:r>
              <a:rPr lang="en-US" b="true" sz="2945">
                <a:solidFill>
                  <a:srgbClr val="000000"/>
                </a:solidFill>
                <a:latin typeface="Maven Pro Bold"/>
                <a:ea typeface="Maven Pro Bold"/>
                <a:cs typeface="Maven Pro Bold"/>
                <a:sym typeface="Maven Pro Bold"/>
              </a:rPr>
              <a:t>Pre-Execution Filtering:</a:t>
            </a:r>
            <a:r>
              <a:rPr lang="en-US" sz="2945">
                <a:solidFill>
                  <a:srgbClr val="000000"/>
                </a:solidFill>
                <a:latin typeface="Maven Pro"/>
                <a:ea typeface="Maven Pro"/>
                <a:cs typeface="Maven Pro"/>
                <a:sym typeface="Maven Pro"/>
              </a:rPr>
              <a:t> The module operates entirely on simulated futures, ensuring safety before any physical interaction with the live web.</a:t>
            </a:r>
          </a:p>
          <a:p>
            <a:pPr algn="l" marL="635973" indent="-317987" lvl="1">
              <a:lnSpc>
                <a:spcPts val="4123"/>
              </a:lnSpc>
              <a:buFont typeface="Arial"/>
              <a:buChar char="•"/>
            </a:pPr>
            <a:r>
              <a:rPr lang="en-US" b="true" sz="2945">
                <a:solidFill>
                  <a:srgbClr val="000000"/>
                </a:solidFill>
                <a:latin typeface="Maven Pro Bold"/>
                <a:ea typeface="Maven Pro Bold"/>
                <a:cs typeface="Maven Pro Bold"/>
                <a:sym typeface="Maven Pro Bold"/>
              </a:rPr>
              <a:t>Threat Classification:</a:t>
            </a:r>
            <a:r>
              <a:rPr lang="en-US" sz="2945">
                <a:solidFill>
                  <a:srgbClr val="000000"/>
                </a:solidFill>
                <a:latin typeface="Maven Pro"/>
                <a:ea typeface="Maven Pro"/>
                <a:cs typeface="Maven Pro"/>
                <a:sym typeface="Maven Pro"/>
              </a:rPr>
              <a:t> Each predicted state is passed through a classifier prompt that actively scans for social engineering signals (like fake warnings or false urgency).</a:t>
            </a:r>
          </a:p>
          <a:p>
            <a:pPr algn="l" marL="635973" indent="-317987" lvl="1">
              <a:lnSpc>
                <a:spcPts val="4123"/>
              </a:lnSpc>
              <a:buFont typeface="Arial"/>
              <a:buChar char="•"/>
            </a:pPr>
            <a:r>
              <a:rPr lang="en-US" b="true" sz="2945">
                <a:solidFill>
                  <a:srgbClr val="000000"/>
                </a:solidFill>
                <a:latin typeface="Maven Pro Bold"/>
                <a:ea typeface="Maven Pro Bold"/>
                <a:cs typeface="Maven Pro Bold"/>
                <a:sym typeface="Maven Pro Bold"/>
              </a:rPr>
              <a:t>Pattern Recognition:</a:t>
            </a:r>
            <a:r>
              <a:rPr lang="en-US" sz="2945">
                <a:solidFill>
                  <a:srgbClr val="000000"/>
                </a:solidFill>
                <a:latin typeface="Maven Pro"/>
                <a:ea typeface="Maven Pro"/>
                <a:cs typeface="Maven Pro"/>
                <a:sym typeface="Maven Pro"/>
              </a:rPr>
              <a:t> I</a:t>
            </a:r>
            <a:r>
              <a:rPr lang="en-US" sz="2945">
                <a:solidFill>
                  <a:srgbClr val="000000"/>
                </a:solidFill>
                <a:latin typeface="Maven Pro"/>
                <a:ea typeface="Maven Pro"/>
                <a:cs typeface="Maven Pro"/>
                <a:sym typeface="Maven Pro"/>
              </a:rPr>
              <a:t>t </a:t>
            </a:r>
            <a:r>
              <a:rPr lang="en-US" sz="2945">
                <a:solidFill>
                  <a:srgbClr val="000000"/>
                </a:solidFill>
                <a:latin typeface="Maven Pro"/>
                <a:ea typeface="Maven Pro"/>
                <a:cs typeface="Maven Pro"/>
                <a:sym typeface="Maven Pro"/>
              </a:rPr>
              <a:t>s</a:t>
            </a:r>
            <a:r>
              <a:rPr lang="en-US" sz="2945">
                <a:solidFill>
                  <a:srgbClr val="000000"/>
                </a:solidFill>
                <a:latin typeface="Maven Pro"/>
                <a:ea typeface="Maven Pro"/>
                <a:cs typeface="Maven Pro"/>
                <a:sym typeface="Maven Pro"/>
              </a:rPr>
              <a:t>u</a:t>
            </a:r>
            <a:r>
              <a:rPr lang="en-US" sz="2945">
                <a:solidFill>
                  <a:srgbClr val="000000"/>
                </a:solidFill>
                <a:latin typeface="Maven Pro"/>
                <a:ea typeface="Maven Pro"/>
                <a:cs typeface="Maven Pro"/>
                <a:sym typeface="Maven Pro"/>
              </a:rPr>
              <a:t>cce</a:t>
            </a:r>
            <a:r>
              <a:rPr lang="en-US" sz="2945">
                <a:solidFill>
                  <a:srgbClr val="000000"/>
                </a:solidFill>
                <a:latin typeface="Maven Pro"/>
                <a:ea typeface="Maven Pro"/>
                <a:cs typeface="Maven Pro"/>
                <a:sym typeface="Maven Pro"/>
              </a:rPr>
              <a:t>s</a:t>
            </a:r>
            <a:r>
              <a:rPr lang="en-US" sz="2945">
                <a:solidFill>
                  <a:srgbClr val="000000"/>
                </a:solidFill>
                <a:latin typeface="Maven Pro"/>
                <a:ea typeface="Maven Pro"/>
                <a:cs typeface="Maven Pro"/>
                <a:sym typeface="Maven Pro"/>
              </a:rPr>
              <a:t>s</a:t>
            </a:r>
            <a:r>
              <a:rPr lang="en-US" sz="2945">
                <a:solidFill>
                  <a:srgbClr val="000000"/>
                </a:solidFill>
                <a:latin typeface="Maven Pro"/>
                <a:ea typeface="Maven Pro"/>
                <a:cs typeface="Maven Pro"/>
                <a:sym typeface="Maven Pro"/>
              </a:rPr>
              <a:t>f</a:t>
            </a:r>
            <a:r>
              <a:rPr lang="en-US" sz="2945">
                <a:solidFill>
                  <a:srgbClr val="000000"/>
                </a:solidFill>
                <a:latin typeface="Maven Pro"/>
                <a:ea typeface="Maven Pro"/>
                <a:cs typeface="Maven Pro"/>
                <a:sym typeface="Maven Pro"/>
              </a:rPr>
              <a:t>ully</a:t>
            </a:r>
            <a:r>
              <a:rPr lang="en-US" sz="2945">
                <a:solidFill>
                  <a:srgbClr val="000000"/>
                </a:solidFill>
                <a:latin typeface="Maven Pro"/>
                <a:ea typeface="Maven Pro"/>
                <a:cs typeface="Maven Pro"/>
                <a:sym typeface="Maven Pro"/>
              </a:rPr>
              <a:t> i</a:t>
            </a:r>
            <a:r>
              <a:rPr lang="en-US" sz="2945">
                <a:solidFill>
                  <a:srgbClr val="000000"/>
                </a:solidFill>
                <a:latin typeface="Maven Pro"/>
                <a:ea typeface="Maven Pro"/>
                <a:cs typeface="Maven Pro"/>
                <a:sym typeface="Maven Pro"/>
              </a:rPr>
              <a:t>de</a:t>
            </a:r>
            <a:r>
              <a:rPr lang="en-US" sz="2945">
                <a:solidFill>
                  <a:srgbClr val="000000"/>
                </a:solidFill>
                <a:latin typeface="Maven Pro"/>
                <a:ea typeface="Maven Pro"/>
                <a:cs typeface="Maven Pro"/>
                <a:sym typeface="Maven Pro"/>
              </a:rPr>
              <a:t>n</a:t>
            </a:r>
            <a:r>
              <a:rPr lang="en-US" sz="2945">
                <a:solidFill>
                  <a:srgbClr val="000000"/>
                </a:solidFill>
                <a:latin typeface="Maven Pro"/>
                <a:ea typeface="Maven Pro"/>
                <a:cs typeface="Maven Pro"/>
                <a:sym typeface="Maven Pro"/>
              </a:rPr>
              <a:t>ti</a:t>
            </a:r>
            <a:r>
              <a:rPr lang="en-US" sz="2945">
                <a:solidFill>
                  <a:srgbClr val="000000"/>
                </a:solidFill>
                <a:latin typeface="Maven Pro"/>
                <a:ea typeface="Maven Pro"/>
                <a:cs typeface="Maven Pro"/>
                <a:sym typeface="Maven Pro"/>
              </a:rPr>
              <a:t>fi</a:t>
            </a:r>
            <a:r>
              <a:rPr lang="en-US" sz="2945">
                <a:solidFill>
                  <a:srgbClr val="000000"/>
                </a:solidFill>
                <a:latin typeface="Maven Pro"/>
                <a:ea typeface="Maven Pro"/>
                <a:cs typeface="Maven Pro"/>
                <a:sym typeface="Maven Pro"/>
              </a:rPr>
              <a:t>es expe</a:t>
            </a:r>
            <a:r>
              <a:rPr lang="en-US" sz="2945">
                <a:solidFill>
                  <a:srgbClr val="000000"/>
                </a:solidFill>
                <a:latin typeface="Maven Pro"/>
                <a:ea typeface="Maven Pro"/>
                <a:cs typeface="Maven Pro"/>
                <a:sym typeface="Maven Pro"/>
              </a:rPr>
              <a:t>c</a:t>
            </a:r>
            <a:r>
              <a:rPr lang="en-US" sz="2945">
                <a:solidFill>
                  <a:srgbClr val="000000"/>
                </a:solidFill>
                <a:latin typeface="Maven Pro"/>
                <a:ea typeface="Maven Pro"/>
                <a:cs typeface="Maven Pro"/>
                <a:sym typeface="Maven Pro"/>
              </a:rPr>
              <a:t>t</a:t>
            </a:r>
            <a:r>
              <a:rPr lang="en-US" sz="2945">
                <a:solidFill>
                  <a:srgbClr val="000000"/>
                </a:solidFill>
                <a:latin typeface="Maven Pro"/>
                <a:ea typeface="Maven Pro"/>
                <a:cs typeface="Maven Pro"/>
                <a:sym typeface="Maven Pro"/>
              </a:rPr>
              <a:t>e</a:t>
            </a:r>
            <a:r>
              <a:rPr lang="en-US" sz="2945">
                <a:solidFill>
                  <a:srgbClr val="000000"/>
                </a:solidFill>
                <a:latin typeface="Maven Pro"/>
                <a:ea typeface="Maven Pro"/>
                <a:cs typeface="Maven Pro"/>
                <a:sym typeface="Maven Pro"/>
              </a:rPr>
              <a:t>d struc</a:t>
            </a:r>
            <a:r>
              <a:rPr lang="en-US" sz="2945">
                <a:solidFill>
                  <a:srgbClr val="000000"/>
                </a:solidFill>
                <a:latin typeface="Maven Pro"/>
                <a:ea typeface="Maven Pro"/>
                <a:cs typeface="Maven Pro"/>
                <a:sym typeface="Maven Pro"/>
              </a:rPr>
              <a:t>t</a:t>
            </a:r>
            <a:r>
              <a:rPr lang="en-US" sz="2945">
                <a:solidFill>
                  <a:srgbClr val="000000"/>
                </a:solidFill>
                <a:latin typeface="Maven Pro"/>
                <a:ea typeface="Maven Pro"/>
                <a:cs typeface="Maven Pro"/>
                <a:sym typeface="Maven Pro"/>
              </a:rPr>
              <a:t>ural traps, such as credential input fields </a:t>
            </a:r>
            <a:r>
              <a:rPr lang="en-US" sz="2945">
                <a:solidFill>
                  <a:srgbClr val="000000"/>
                </a:solidFill>
                <a:latin typeface="Maven Pro"/>
                <a:ea typeface="Maven Pro"/>
                <a:cs typeface="Maven Pro"/>
                <a:sym typeface="Maven Pro"/>
              </a:rPr>
              <a:t>re</a:t>
            </a:r>
            <a:r>
              <a:rPr lang="en-US" sz="2945">
                <a:solidFill>
                  <a:srgbClr val="000000"/>
                </a:solidFill>
                <a:latin typeface="Maven Pro"/>
                <a:ea typeface="Maven Pro"/>
                <a:cs typeface="Maven Pro"/>
                <a:sym typeface="Maven Pro"/>
              </a:rPr>
              <a:t>semb</a:t>
            </a:r>
            <a:r>
              <a:rPr lang="en-US" sz="2945">
                <a:solidFill>
                  <a:srgbClr val="000000"/>
                </a:solidFill>
                <a:latin typeface="Maven Pro"/>
                <a:ea typeface="Maven Pro"/>
                <a:cs typeface="Maven Pro"/>
                <a:sym typeface="Maven Pro"/>
              </a:rPr>
              <a:t>l</a:t>
            </a:r>
            <a:r>
              <a:rPr lang="en-US" sz="2945">
                <a:solidFill>
                  <a:srgbClr val="000000"/>
                </a:solidFill>
                <a:latin typeface="Maven Pro"/>
                <a:ea typeface="Maven Pro"/>
                <a:cs typeface="Maven Pro"/>
                <a:sym typeface="Maven Pro"/>
              </a:rPr>
              <a:t>ing phishing f</a:t>
            </a:r>
            <a:r>
              <a:rPr lang="en-US" sz="2945">
                <a:solidFill>
                  <a:srgbClr val="000000"/>
                </a:solidFill>
                <a:latin typeface="Maven Pro"/>
                <a:ea typeface="Maven Pro"/>
                <a:cs typeface="Maven Pro"/>
                <a:sym typeface="Maven Pro"/>
              </a:rPr>
              <a:t>or</a:t>
            </a:r>
            <a:r>
              <a:rPr lang="en-US" sz="2945">
                <a:solidFill>
                  <a:srgbClr val="000000"/>
                </a:solidFill>
                <a:latin typeface="Maven Pro"/>
                <a:ea typeface="Maven Pro"/>
                <a:cs typeface="Maven Pro"/>
                <a:sym typeface="Maven Pro"/>
              </a:rPr>
              <a:t>ms an</a:t>
            </a:r>
            <a:r>
              <a:rPr lang="en-US" sz="2945">
                <a:solidFill>
                  <a:srgbClr val="000000"/>
                </a:solidFill>
                <a:latin typeface="Maven Pro"/>
                <a:ea typeface="Maven Pro"/>
                <a:cs typeface="Maven Pro"/>
                <a:sym typeface="Maven Pro"/>
              </a:rPr>
              <a:t>d </a:t>
            </a:r>
            <a:r>
              <a:rPr lang="en-US" sz="2945">
                <a:solidFill>
                  <a:srgbClr val="000000"/>
                </a:solidFill>
                <a:latin typeface="Maven Pro"/>
                <a:ea typeface="Maven Pro"/>
                <a:cs typeface="Maven Pro"/>
                <a:sym typeface="Maven Pro"/>
              </a:rPr>
              <a:t>suspicious do</a:t>
            </a:r>
            <a:r>
              <a:rPr lang="en-US" sz="2945">
                <a:solidFill>
                  <a:srgbClr val="000000"/>
                </a:solidFill>
                <a:latin typeface="Maven Pro"/>
                <a:ea typeface="Maven Pro"/>
                <a:cs typeface="Maven Pro"/>
                <a:sym typeface="Maven Pro"/>
              </a:rPr>
              <a:t>wn</a:t>
            </a:r>
            <a:r>
              <a:rPr lang="en-US" sz="2945">
                <a:solidFill>
                  <a:srgbClr val="000000"/>
                </a:solidFill>
                <a:latin typeface="Maven Pro"/>
                <a:ea typeface="Maven Pro"/>
                <a:cs typeface="Maven Pro"/>
                <a:sym typeface="Maven Pro"/>
              </a:rPr>
              <a:t>load p</a:t>
            </a:r>
            <a:r>
              <a:rPr lang="en-US" sz="2945">
                <a:solidFill>
                  <a:srgbClr val="000000"/>
                </a:solidFill>
                <a:latin typeface="Maven Pro"/>
                <a:ea typeface="Maven Pro"/>
                <a:cs typeface="Maven Pro"/>
                <a:sym typeface="Maven Pro"/>
              </a:rPr>
              <a:t>rom</a:t>
            </a:r>
            <a:r>
              <a:rPr lang="en-US" sz="2945">
                <a:solidFill>
                  <a:srgbClr val="000000"/>
                </a:solidFill>
                <a:latin typeface="Maven Pro"/>
                <a:ea typeface="Maven Pro"/>
                <a:cs typeface="Maven Pro"/>
                <a:sym typeface="Maven Pro"/>
              </a:rPr>
              <a:t>p</a:t>
            </a:r>
            <a:r>
              <a:rPr lang="en-US" sz="2945">
                <a:solidFill>
                  <a:srgbClr val="000000"/>
                </a:solidFill>
                <a:latin typeface="Maven Pro"/>
                <a:ea typeface="Maven Pro"/>
                <a:cs typeface="Maven Pro"/>
                <a:sym typeface="Maven Pro"/>
              </a:rPr>
              <a:t>ts.</a:t>
            </a:r>
          </a:p>
          <a:p>
            <a:pPr algn="l">
              <a:lnSpc>
                <a:spcPts val="4123"/>
              </a:lnSpc>
            </a:pP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2491730" y="258763"/>
            <a:ext cx="13304540" cy="1377949"/>
          </a:xfrm>
          <a:prstGeom prst="rect">
            <a:avLst/>
          </a:prstGeom>
        </p:spPr>
        <p:txBody>
          <a:bodyPr anchor="t" rtlCol="false" tIns="0" lIns="0" bIns="0" rIns="0">
            <a:spAutoFit/>
          </a:bodyPr>
          <a:lstStyle/>
          <a:p>
            <a:pPr algn="ctr">
              <a:lnSpc>
                <a:spcPts val="11200"/>
              </a:lnSpc>
              <a:spcBef>
                <a:spcPct val="0"/>
              </a:spcBef>
            </a:pPr>
            <a:r>
              <a:rPr lang="en-US" b="true" sz="8000">
                <a:solidFill>
                  <a:srgbClr val="000000"/>
                </a:solidFill>
                <a:latin typeface="Maven Pro Bold"/>
                <a:ea typeface="Maven Pro Bold"/>
                <a:cs typeface="Maven Pro Bold"/>
                <a:sym typeface="Maven Pro Bold"/>
              </a:rPr>
              <a:t>CHALLENGES &amp; SOLUTIONS</a:t>
            </a:r>
          </a:p>
        </p:txBody>
      </p:sp>
      <p:sp>
        <p:nvSpPr>
          <p:cNvPr name="TextBox 3" id="3"/>
          <p:cNvSpPr txBox="true"/>
          <p:nvPr/>
        </p:nvSpPr>
        <p:spPr>
          <a:xfrm rot="0">
            <a:off x="295858" y="1981674"/>
            <a:ext cx="17562143" cy="7424924"/>
          </a:xfrm>
          <a:prstGeom prst="rect">
            <a:avLst/>
          </a:prstGeom>
        </p:spPr>
        <p:txBody>
          <a:bodyPr anchor="t" rtlCol="false" tIns="0" lIns="0" bIns="0" rIns="0">
            <a:spAutoFit/>
          </a:bodyPr>
          <a:lstStyle/>
          <a:p>
            <a:pPr algn="l">
              <a:lnSpc>
                <a:spcPts val="3927"/>
              </a:lnSpc>
            </a:pPr>
            <a:r>
              <a:rPr lang="en-US" sz="2805">
                <a:solidFill>
                  <a:srgbClr val="000000"/>
                </a:solidFill>
                <a:latin typeface="Maven Pro"/>
                <a:ea typeface="Maven Pro"/>
                <a:cs typeface="Maven Pro"/>
                <a:sym typeface="Maven Pro"/>
              </a:rPr>
              <a:t>T</a:t>
            </a:r>
            <a:r>
              <a:rPr lang="en-US" sz="2805">
                <a:solidFill>
                  <a:srgbClr val="000000"/>
                </a:solidFill>
                <a:latin typeface="Maven Pro"/>
                <a:ea typeface="Maven Pro"/>
                <a:cs typeface="Maven Pro"/>
                <a:sym typeface="Maven Pro"/>
              </a:rPr>
              <a:t>raditional reactive agents lack counte</a:t>
            </a:r>
            <a:r>
              <a:rPr lang="en-US" sz="2805">
                <a:solidFill>
                  <a:srgbClr val="000000"/>
                </a:solidFill>
                <a:latin typeface="Maven Pro"/>
                <a:ea typeface="Maven Pro"/>
                <a:cs typeface="Maven Pro"/>
                <a:sym typeface="Maven Pro"/>
              </a:rPr>
              <a:t>rfactual reason</a:t>
            </a:r>
            <a:r>
              <a:rPr lang="en-US" sz="2805">
                <a:solidFill>
                  <a:srgbClr val="000000"/>
                </a:solidFill>
                <a:latin typeface="Maven Pro"/>
                <a:ea typeface="Maven Pro"/>
                <a:cs typeface="Maven Pro"/>
                <a:sym typeface="Maven Pro"/>
              </a:rPr>
              <a:t>ing - they</a:t>
            </a:r>
            <a:r>
              <a:rPr lang="en-US" sz="2805">
                <a:solidFill>
                  <a:srgbClr val="000000"/>
                </a:solidFill>
                <a:latin typeface="Maven Pro"/>
                <a:ea typeface="Maven Pro"/>
                <a:cs typeface="Maven Pro"/>
                <a:sym typeface="Maven Pro"/>
              </a:rPr>
              <a:t> cannot internally as</a:t>
            </a:r>
            <a:r>
              <a:rPr lang="en-US" sz="2805">
                <a:solidFill>
                  <a:srgbClr val="000000"/>
                </a:solidFill>
                <a:latin typeface="Maven Pro"/>
                <a:ea typeface="Maven Pro"/>
                <a:cs typeface="Maven Pro"/>
                <a:sym typeface="Maven Pro"/>
              </a:rPr>
              <a:t>k,</a:t>
            </a:r>
            <a:r>
              <a:rPr lang="en-US" sz="2805">
                <a:solidFill>
                  <a:srgbClr val="000000"/>
                </a:solidFill>
                <a:latin typeface="Maven Pro"/>
                <a:ea typeface="Maven Pro"/>
                <a:cs typeface="Maven Pro"/>
                <a:sym typeface="Maven Pro"/>
              </a:rPr>
              <a:t> "What</a:t>
            </a:r>
            <a:r>
              <a:rPr lang="en-US" sz="2805">
                <a:solidFill>
                  <a:srgbClr val="000000"/>
                </a:solidFill>
                <a:latin typeface="Maven Pro"/>
                <a:ea typeface="Maven Pro"/>
                <a:cs typeface="Maven Pro"/>
                <a:sym typeface="Maven Pro"/>
              </a:rPr>
              <a:t> will happen if I click this?". Because they must rely entirely on real-world feedback, every single action requires a real browser interaction, which is inherently slow, costly, and resource-heavy. When these agents make a wrong decision, they frequently get stuck in infinite operational loops, blindly repeating the </a:t>
            </a:r>
          </a:p>
          <a:p>
            <a:pPr algn="l">
              <a:lnSpc>
                <a:spcPts val="3927"/>
              </a:lnSpc>
            </a:pPr>
          </a:p>
          <a:p>
            <a:pPr algn="l">
              <a:lnSpc>
                <a:spcPts val="3927"/>
              </a:lnSpc>
            </a:pPr>
            <a:r>
              <a:rPr lang="en-US" sz="2805">
                <a:solidFill>
                  <a:srgbClr val="000000"/>
                </a:solidFill>
                <a:latin typeface="Maven Pro"/>
                <a:ea typeface="Maven Pro"/>
                <a:cs typeface="Maven Pro"/>
                <a:sym typeface="Maven Pro"/>
              </a:rPr>
              <a:t>We solve this inefficiency through </a:t>
            </a:r>
            <a:r>
              <a:rPr lang="en-US" b="true" sz="2805">
                <a:solidFill>
                  <a:srgbClr val="000000"/>
                </a:solidFill>
                <a:latin typeface="Maven Pro Bold"/>
                <a:ea typeface="Maven Pro Bold"/>
                <a:cs typeface="Maven Pro Bold"/>
                <a:sym typeface="Maven Pro Bold"/>
              </a:rPr>
              <a:t>Counterfactual Web State Simulation</a:t>
            </a:r>
            <a:r>
              <a:rPr lang="en-US" sz="2805">
                <a:solidFill>
                  <a:srgbClr val="000000"/>
                </a:solidFill>
                <a:latin typeface="Maven Pro"/>
                <a:ea typeface="Maven Pro"/>
                <a:cs typeface="Maven Pro"/>
                <a:sym typeface="Maven Pro"/>
              </a:rPr>
              <a:t> combined with active error recovery.</a:t>
            </a:r>
          </a:p>
          <a:p>
            <a:pPr algn="l">
              <a:lnSpc>
                <a:spcPts val="3927"/>
              </a:lnSpc>
            </a:pPr>
          </a:p>
          <a:p>
            <a:pPr algn="l" marL="605637" indent="-302818" lvl="1">
              <a:lnSpc>
                <a:spcPts val="3927"/>
              </a:lnSpc>
              <a:buFont typeface="Arial"/>
              <a:buChar char="•"/>
            </a:pPr>
            <a:r>
              <a:rPr lang="en-US" b="true" sz="2805">
                <a:solidFill>
                  <a:srgbClr val="000000"/>
                </a:solidFill>
                <a:latin typeface="Maven Pro Bold"/>
                <a:ea typeface="Maven Pro Bold"/>
                <a:cs typeface="Maven Pro Bold"/>
                <a:sym typeface="Maven Pro Bold"/>
              </a:rPr>
              <a:t>Preventing Irreversible Mistakes:</a:t>
            </a:r>
            <a:r>
              <a:rPr lang="en-US" sz="2805">
                <a:solidFill>
                  <a:srgbClr val="000000"/>
                </a:solidFill>
                <a:latin typeface="Maven Pro"/>
                <a:ea typeface="Maven Pro"/>
                <a:cs typeface="Maven Pro"/>
                <a:sym typeface="Maven Pro"/>
              </a:rPr>
              <a:t> By simulating structural and functional changes up to “k” imagination steps into the future, the agent avoids making erroneous clicks on the live web.</a:t>
            </a:r>
          </a:p>
          <a:p>
            <a:pPr algn="l" marL="605637" indent="-302818" lvl="1">
              <a:lnSpc>
                <a:spcPts val="3927"/>
              </a:lnSpc>
              <a:buFont typeface="Arial"/>
              <a:buChar char="•"/>
            </a:pPr>
            <a:r>
              <a:rPr lang="en-US" b="true" sz="2805">
                <a:solidFill>
                  <a:srgbClr val="000000"/>
                </a:solidFill>
                <a:latin typeface="Maven Pro Bold"/>
                <a:ea typeface="Maven Pro Bold"/>
                <a:cs typeface="Maven Pro Bold"/>
                <a:sym typeface="Maven Pro Bold"/>
              </a:rPr>
              <a:t>Triggering Reflexion:</a:t>
            </a:r>
            <a:r>
              <a:rPr lang="en-US" sz="2805">
                <a:solidFill>
                  <a:srgbClr val="000000"/>
                </a:solidFill>
                <a:latin typeface="Maven Pro"/>
                <a:ea typeface="Maven Pro"/>
                <a:cs typeface="Maven Pro"/>
                <a:sym typeface="Maven Pro"/>
              </a:rPr>
              <a:t> After executing an action, if the actual webpage result deviates significantly from the World Model's prediction, the Reflexion module activates.</a:t>
            </a:r>
          </a:p>
          <a:p>
            <a:pPr algn="l" marL="605637" indent="-302818" lvl="1">
              <a:lnSpc>
                <a:spcPts val="3927"/>
              </a:lnSpc>
              <a:buFont typeface="Arial"/>
              <a:buChar char="•"/>
            </a:pPr>
            <a:r>
              <a:rPr lang="en-US" b="true" sz="2805">
                <a:solidFill>
                  <a:srgbClr val="000000"/>
                </a:solidFill>
                <a:latin typeface="Maven Pro Bold"/>
                <a:ea typeface="Maven Pro Bold"/>
                <a:cs typeface="Maven Pro Bold"/>
                <a:sym typeface="Maven Pro Bold"/>
              </a:rPr>
              <a:t>Diagnostic Memory Updates:</a:t>
            </a:r>
            <a:r>
              <a:rPr lang="en-US" sz="2805">
                <a:solidFill>
                  <a:srgbClr val="000000"/>
                </a:solidFill>
                <a:latin typeface="Maven Pro"/>
                <a:ea typeface="Maven Pro"/>
                <a:cs typeface="Maven Pro"/>
                <a:sym typeface="Maven Pro"/>
              </a:rPr>
              <a:t> The LLM diagnoses why the</a:t>
            </a:r>
            <a:r>
              <a:rPr lang="en-US" sz="2805">
                <a:solidFill>
                  <a:srgbClr val="000000"/>
                </a:solidFill>
                <a:latin typeface="Maven Pro"/>
                <a:ea typeface="Maven Pro"/>
                <a:cs typeface="Maven Pro"/>
                <a:sym typeface="Maven Pro"/>
              </a:rPr>
              <a:t> simulat</a:t>
            </a:r>
            <a:r>
              <a:rPr lang="en-US" sz="2805">
                <a:solidFill>
                  <a:srgbClr val="000000"/>
                </a:solidFill>
                <a:latin typeface="Maven Pro"/>
                <a:ea typeface="Maven Pro"/>
                <a:cs typeface="Maven Pro"/>
                <a:sym typeface="Maven Pro"/>
              </a:rPr>
              <a:t>ion </a:t>
            </a:r>
            <a:r>
              <a:rPr lang="en-US" sz="2805">
                <a:solidFill>
                  <a:srgbClr val="000000"/>
                </a:solidFill>
                <a:latin typeface="Maven Pro"/>
                <a:ea typeface="Maven Pro"/>
                <a:cs typeface="Maven Pro"/>
                <a:sym typeface="Maven Pro"/>
              </a:rPr>
              <a:t>fai</a:t>
            </a:r>
            <a:r>
              <a:rPr lang="en-US" sz="2805">
                <a:solidFill>
                  <a:srgbClr val="000000"/>
                </a:solidFill>
                <a:latin typeface="Maven Pro"/>
                <a:ea typeface="Maven Pro"/>
                <a:cs typeface="Maven Pro"/>
                <a:sym typeface="Maven Pro"/>
              </a:rPr>
              <a:t>led,</a:t>
            </a:r>
            <a:r>
              <a:rPr lang="en-US" sz="2805">
                <a:solidFill>
                  <a:srgbClr val="000000"/>
                </a:solidFill>
                <a:latin typeface="Maven Pro"/>
                <a:ea typeface="Maven Pro"/>
                <a:cs typeface="Maven Pro"/>
                <a:sym typeface="Maven Pro"/>
              </a:rPr>
              <a:t> i</a:t>
            </a:r>
            <a:r>
              <a:rPr lang="en-US" sz="2805">
                <a:solidFill>
                  <a:srgbClr val="000000"/>
                </a:solidFill>
                <a:latin typeface="Maven Pro"/>
                <a:ea typeface="Maven Pro"/>
                <a:cs typeface="Maven Pro"/>
                <a:sym typeface="Maven Pro"/>
              </a:rPr>
              <a:t>de</a:t>
            </a:r>
            <a:r>
              <a:rPr lang="en-US" sz="2805">
                <a:solidFill>
                  <a:srgbClr val="000000"/>
                </a:solidFill>
                <a:latin typeface="Maven Pro"/>
                <a:ea typeface="Maven Pro"/>
                <a:cs typeface="Maven Pro"/>
                <a:sym typeface="Maven Pro"/>
              </a:rPr>
              <a:t>n</a:t>
            </a:r>
            <a:r>
              <a:rPr lang="en-US" sz="2805">
                <a:solidFill>
                  <a:srgbClr val="000000"/>
                </a:solidFill>
                <a:latin typeface="Maven Pro"/>
                <a:ea typeface="Maven Pro"/>
                <a:cs typeface="Maven Pro"/>
                <a:sym typeface="Maven Pro"/>
              </a:rPr>
              <a:t>ti</a:t>
            </a:r>
            <a:r>
              <a:rPr lang="en-US" sz="2805">
                <a:solidFill>
                  <a:srgbClr val="000000"/>
                </a:solidFill>
                <a:latin typeface="Maven Pro"/>
                <a:ea typeface="Maven Pro"/>
                <a:cs typeface="Maven Pro"/>
                <a:sym typeface="Maven Pro"/>
              </a:rPr>
              <a:t>fi</a:t>
            </a:r>
            <a:r>
              <a:rPr lang="en-US" sz="2805">
                <a:solidFill>
                  <a:srgbClr val="000000"/>
                </a:solidFill>
                <a:latin typeface="Maven Pro"/>
                <a:ea typeface="Maven Pro"/>
                <a:cs typeface="Maven Pro"/>
                <a:sym typeface="Maven Pro"/>
              </a:rPr>
              <a:t>es misl</a:t>
            </a:r>
            <a:r>
              <a:rPr lang="en-US" sz="2805">
                <a:solidFill>
                  <a:srgbClr val="000000"/>
                </a:solidFill>
                <a:latin typeface="Maven Pro"/>
                <a:ea typeface="Maven Pro"/>
                <a:cs typeface="Maven Pro"/>
                <a:sym typeface="Maven Pro"/>
              </a:rPr>
              <a:t>ea</a:t>
            </a:r>
            <a:r>
              <a:rPr lang="en-US" sz="2805">
                <a:solidFill>
                  <a:srgbClr val="000000"/>
                </a:solidFill>
                <a:latin typeface="Maven Pro"/>
                <a:ea typeface="Maven Pro"/>
                <a:cs typeface="Maven Pro"/>
                <a:sym typeface="Maven Pro"/>
              </a:rPr>
              <a:t>ding UI transitions, and logs the error delta to update th</a:t>
            </a:r>
            <a:r>
              <a:rPr lang="en-US" sz="2805">
                <a:solidFill>
                  <a:srgbClr val="000000"/>
                </a:solidFill>
                <a:latin typeface="Maven Pro"/>
                <a:ea typeface="Maven Pro"/>
                <a:cs typeface="Maven Pro"/>
                <a:sym typeface="Maven Pro"/>
              </a:rPr>
              <a:t>e </a:t>
            </a:r>
            <a:r>
              <a:rPr lang="en-US" sz="2805">
                <a:solidFill>
                  <a:srgbClr val="000000"/>
                </a:solidFill>
                <a:latin typeface="Maven Pro"/>
                <a:ea typeface="Maven Pro"/>
                <a:cs typeface="Maven Pro"/>
                <a:sym typeface="Maven Pro"/>
              </a:rPr>
              <a:t>session mem</a:t>
            </a:r>
            <a:r>
              <a:rPr lang="en-US" sz="2805">
                <a:solidFill>
                  <a:srgbClr val="000000"/>
                </a:solidFill>
                <a:latin typeface="Maven Pro"/>
                <a:ea typeface="Maven Pro"/>
                <a:cs typeface="Maven Pro"/>
                <a:sym typeface="Maven Pro"/>
              </a:rPr>
              <a:t>ory w</a:t>
            </a:r>
            <a:r>
              <a:rPr lang="en-US" sz="2805">
                <a:solidFill>
                  <a:srgbClr val="000000"/>
                </a:solidFill>
                <a:latin typeface="Maven Pro"/>
                <a:ea typeface="Maven Pro"/>
                <a:cs typeface="Maven Pro"/>
                <a:sym typeface="Maven Pro"/>
              </a:rPr>
              <a:t>ith a c</a:t>
            </a:r>
            <a:r>
              <a:rPr lang="en-US" sz="2805">
                <a:solidFill>
                  <a:srgbClr val="000000"/>
                </a:solidFill>
                <a:latin typeface="Maven Pro"/>
                <a:ea typeface="Maven Pro"/>
                <a:cs typeface="Maven Pro"/>
                <a:sym typeface="Maven Pro"/>
              </a:rPr>
              <a:t>orrective rule.</a:t>
            </a:r>
          </a:p>
          <a:p>
            <a:pPr algn="l">
              <a:lnSpc>
                <a:spcPts val="3927"/>
              </a:lnSpc>
            </a:pP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4585692" y="258763"/>
            <a:ext cx="9116616" cy="1377949"/>
          </a:xfrm>
          <a:prstGeom prst="rect">
            <a:avLst/>
          </a:prstGeom>
        </p:spPr>
        <p:txBody>
          <a:bodyPr anchor="t" rtlCol="false" tIns="0" lIns="0" bIns="0" rIns="0">
            <a:spAutoFit/>
          </a:bodyPr>
          <a:lstStyle/>
          <a:p>
            <a:pPr algn="ctr">
              <a:lnSpc>
                <a:spcPts val="11200"/>
              </a:lnSpc>
              <a:spcBef>
                <a:spcPct val="0"/>
              </a:spcBef>
            </a:pPr>
            <a:r>
              <a:rPr lang="en-US" b="true" sz="8000">
                <a:solidFill>
                  <a:srgbClr val="000000"/>
                </a:solidFill>
                <a:latin typeface="Maven Pro Bold"/>
                <a:ea typeface="Maven Pro Bold"/>
                <a:cs typeface="Maven Pro Bold"/>
                <a:sym typeface="Maven Pro Bold"/>
              </a:rPr>
              <a:t>REMAINING WORK</a:t>
            </a:r>
          </a:p>
        </p:txBody>
      </p:sp>
      <p:sp>
        <p:nvSpPr>
          <p:cNvPr name="TextBox 3" id="3"/>
          <p:cNvSpPr txBox="true"/>
          <p:nvPr/>
        </p:nvSpPr>
        <p:spPr>
          <a:xfrm rot="0">
            <a:off x="0" y="1930885"/>
            <a:ext cx="18058505" cy="7764542"/>
          </a:xfrm>
          <a:prstGeom prst="rect">
            <a:avLst/>
          </a:prstGeom>
        </p:spPr>
        <p:txBody>
          <a:bodyPr anchor="t" rtlCol="false" tIns="0" lIns="0" bIns="0" rIns="0">
            <a:spAutoFit/>
          </a:bodyPr>
          <a:lstStyle/>
          <a:p>
            <a:pPr algn="ctr" marL="795458" indent="-397729" lvl="1">
              <a:lnSpc>
                <a:spcPts val="5158"/>
              </a:lnSpc>
              <a:spcBef>
                <a:spcPct val="0"/>
              </a:spcBef>
              <a:buFont typeface="Arial"/>
              <a:buChar char="•"/>
            </a:pPr>
            <a:r>
              <a:rPr lang="en-US" b="true" sz="3684" u="sng">
                <a:solidFill>
                  <a:srgbClr val="000000"/>
                </a:solidFill>
                <a:latin typeface="Maven Pro Bold"/>
                <a:ea typeface="Maven Pro Bold"/>
                <a:cs typeface="Maven Pro Bold"/>
                <a:sym typeface="Maven Pro Bold"/>
              </a:rPr>
              <a:t>Phase 4 (Full Implementati</a:t>
            </a:r>
            <a:r>
              <a:rPr lang="en-US" b="true" sz="3684" u="sng">
                <a:solidFill>
                  <a:srgbClr val="000000"/>
                </a:solidFill>
                <a:latin typeface="Maven Pro Bold"/>
                <a:ea typeface="Maven Pro Bold"/>
                <a:cs typeface="Maven Pro Bold"/>
                <a:sym typeface="Maven Pro Bold"/>
              </a:rPr>
              <a:t>on):</a:t>
            </a:r>
            <a:r>
              <a:rPr lang="en-US" sz="3684">
                <a:solidFill>
                  <a:srgbClr val="000000"/>
                </a:solidFill>
                <a:latin typeface="Maven Pro"/>
                <a:ea typeface="Maven Pro"/>
                <a:cs typeface="Maven Pro"/>
                <a:sym typeface="Maven Pro"/>
              </a:rPr>
              <a:t> Deployment and Persistent Memory along with comparison of model performance and evaluation across these models, namely WebDreamer-7B, Claude Opus 4.6, GPT 5.4, this phase will conclude by the end of March 2026.</a:t>
            </a:r>
          </a:p>
          <a:p>
            <a:pPr algn="ctr">
              <a:lnSpc>
                <a:spcPts val="5158"/>
              </a:lnSpc>
              <a:spcBef>
                <a:spcPct val="0"/>
              </a:spcBef>
            </a:pPr>
          </a:p>
          <a:p>
            <a:pPr algn="ctr" marL="795458" indent="-397729" lvl="1">
              <a:lnSpc>
                <a:spcPts val="5158"/>
              </a:lnSpc>
              <a:spcBef>
                <a:spcPct val="0"/>
              </a:spcBef>
              <a:buFont typeface="Arial"/>
              <a:buChar char="•"/>
            </a:pPr>
            <a:r>
              <a:rPr lang="en-US" b="true" sz="3684" u="sng">
                <a:solidFill>
                  <a:srgbClr val="000000"/>
                </a:solidFill>
                <a:latin typeface="Maven Pro Bold"/>
                <a:ea typeface="Maven Pro Bold"/>
                <a:cs typeface="Maven Pro Bold"/>
                <a:sym typeface="Maven Pro Bold"/>
              </a:rPr>
              <a:t>Phase 5 (Research Paper &amp; Project Report):</a:t>
            </a:r>
            <a:r>
              <a:rPr lang="en-US" sz="3684">
                <a:solidFill>
                  <a:srgbClr val="000000"/>
                </a:solidFill>
                <a:latin typeface="Maven Pro"/>
                <a:ea typeface="Maven Pro"/>
                <a:cs typeface="Maven Pro"/>
                <a:sym typeface="Maven Pro"/>
              </a:rPr>
              <a:t> Dedicate roughly 15 days to formalize our findings, methodology, and performance metrics into the final Research Paper by Early April 2026.</a:t>
            </a:r>
          </a:p>
          <a:p>
            <a:pPr algn="ctr">
              <a:lnSpc>
                <a:spcPts val="5158"/>
              </a:lnSpc>
              <a:spcBef>
                <a:spcPct val="0"/>
              </a:spcBef>
            </a:pPr>
          </a:p>
          <a:p>
            <a:pPr algn="ctr" marL="795458" indent="-397729" lvl="1">
              <a:lnSpc>
                <a:spcPts val="5158"/>
              </a:lnSpc>
              <a:spcBef>
                <a:spcPct val="0"/>
              </a:spcBef>
              <a:buFont typeface="Arial"/>
              <a:buChar char="•"/>
            </a:pPr>
            <a:r>
              <a:rPr lang="en-US" b="true" sz="3684" u="sng">
                <a:solidFill>
                  <a:srgbClr val="000000"/>
                </a:solidFill>
                <a:latin typeface="Maven Pro Bold"/>
                <a:ea typeface="Maven Pro Bold"/>
                <a:cs typeface="Maven Pro Bold"/>
                <a:sym typeface="Maven Pro Bold"/>
              </a:rPr>
              <a:t>Phase 6 (Final Review):</a:t>
            </a:r>
            <a:r>
              <a:rPr lang="en-US" sz="3684">
                <a:solidFill>
                  <a:srgbClr val="000000"/>
                </a:solidFill>
                <a:latin typeface="Maven Pro"/>
                <a:ea typeface="Maven Pro"/>
                <a:cs typeface="Maven Pro"/>
                <a:sym typeface="Maven Pro"/>
              </a:rPr>
              <a:t> Prepare the demonstration and final deliverables for the Project Review scheduled for April 15th, 2026.</a:t>
            </a:r>
          </a:p>
          <a:p>
            <a:pPr algn="ctr">
              <a:lnSpc>
                <a:spcPts val="5158"/>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5948164" y="258763"/>
            <a:ext cx="6391672" cy="1377949"/>
          </a:xfrm>
          <a:prstGeom prst="rect">
            <a:avLst/>
          </a:prstGeom>
        </p:spPr>
        <p:txBody>
          <a:bodyPr anchor="t" rtlCol="false" tIns="0" lIns="0" bIns="0" rIns="0">
            <a:spAutoFit/>
          </a:bodyPr>
          <a:lstStyle/>
          <a:p>
            <a:pPr algn="ctr">
              <a:lnSpc>
                <a:spcPts val="11200"/>
              </a:lnSpc>
              <a:spcBef>
                <a:spcPct val="0"/>
              </a:spcBef>
            </a:pPr>
            <a:r>
              <a:rPr lang="en-US" b="true" sz="8000">
                <a:solidFill>
                  <a:srgbClr val="000000"/>
                </a:solidFill>
                <a:latin typeface="Maven Pro Bold"/>
                <a:ea typeface="Maven Pro Bold"/>
                <a:cs typeface="Maven Pro Bold"/>
                <a:sym typeface="Maven Pro Bold"/>
              </a:rPr>
              <a:t>REFERENCES</a:t>
            </a:r>
          </a:p>
        </p:txBody>
      </p:sp>
      <p:sp>
        <p:nvSpPr>
          <p:cNvPr name="TextBox 3" id="3"/>
          <p:cNvSpPr txBox="true"/>
          <p:nvPr/>
        </p:nvSpPr>
        <p:spPr>
          <a:xfrm rot="0">
            <a:off x="9429039" y="1766130"/>
            <a:ext cx="8426752" cy="6176447"/>
          </a:xfrm>
          <a:prstGeom prst="rect">
            <a:avLst/>
          </a:prstGeom>
        </p:spPr>
        <p:txBody>
          <a:bodyPr anchor="t" rtlCol="false" tIns="0" lIns="0" bIns="0" rIns="0">
            <a:spAutoFit/>
          </a:bodyPr>
          <a:lstStyle/>
          <a:p>
            <a:pPr algn="l" marL="692560" indent="-346280" lvl="1">
              <a:lnSpc>
                <a:spcPts val="4490"/>
              </a:lnSpc>
              <a:spcBef>
                <a:spcPct val="0"/>
              </a:spcBef>
              <a:buFont typeface="Arial"/>
              <a:buChar char="•"/>
            </a:pPr>
            <a:r>
              <a:rPr lang="en-US" sz="3207">
                <a:solidFill>
                  <a:srgbClr val="000000"/>
                </a:solidFill>
                <a:latin typeface="Maven Pro"/>
                <a:ea typeface="Maven Pro"/>
                <a:cs typeface="Maven Pro"/>
                <a:sym typeface="Maven Pro"/>
              </a:rPr>
              <a:t>Shinn, N. et al. (2023). Reflexion.</a:t>
            </a:r>
          </a:p>
          <a:p>
            <a:pPr algn="l" marL="692560" indent="-346280" lvl="1">
              <a:lnSpc>
                <a:spcPts val="4490"/>
              </a:lnSpc>
              <a:spcBef>
                <a:spcPct val="0"/>
              </a:spcBef>
              <a:buFont typeface="Arial"/>
              <a:buChar char="•"/>
            </a:pPr>
            <a:r>
              <a:rPr lang="en-US" sz="3207">
                <a:solidFill>
                  <a:srgbClr val="000000"/>
                </a:solidFill>
                <a:latin typeface="Maven Pro"/>
                <a:ea typeface="Maven Pro"/>
                <a:cs typeface="Maven Pro"/>
                <a:sym typeface="Maven Pro"/>
              </a:rPr>
              <a:t>Yao, S. et al. (2023). ReAct.</a:t>
            </a:r>
          </a:p>
          <a:p>
            <a:pPr algn="l" marL="692560" indent="-346280" lvl="1">
              <a:lnSpc>
                <a:spcPts val="4490"/>
              </a:lnSpc>
              <a:spcBef>
                <a:spcPct val="0"/>
              </a:spcBef>
              <a:buFont typeface="Arial"/>
              <a:buChar char="•"/>
            </a:pPr>
            <a:r>
              <a:rPr lang="en-US" sz="3207">
                <a:solidFill>
                  <a:srgbClr val="000000"/>
                </a:solidFill>
                <a:latin typeface="Maven Pro"/>
                <a:ea typeface="Maven Pro"/>
                <a:cs typeface="Maven Pro"/>
                <a:sym typeface="Maven Pro"/>
              </a:rPr>
              <a:t>Alnemari, S. et al. (2024). Phishing Website Detection Using Improved Multilayered Convolutional Neural Networks.</a:t>
            </a:r>
          </a:p>
          <a:p>
            <a:pPr algn="l" marL="692560" indent="-346280" lvl="1">
              <a:lnSpc>
                <a:spcPts val="4490"/>
              </a:lnSpc>
              <a:spcBef>
                <a:spcPct val="0"/>
              </a:spcBef>
              <a:buFont typeface="Arial"/>
              <a:buChar char="•"/>
            </a:pPr>
            <a:r>
              <a:rPr lang="en-US" sz="3207">
                <a:solidFill>
                  <a:srgbClr val="000000"/>
                </a:solidFill>
                <a:latin typeface="Maven Pro"/>
                <a:ea typeface="Maven Pro"/>
                <a:cs typeface="Maven Pro"/>
                <a:sym typeface="Maven Pro"/>
              </a:rPr>
              <a:t>Yang, H. et al. (2023). Auto-GPT Analysis.</a:t>
            </a:r>
          </a:p>
          <a:p>
            <a:pPr algn="l" marL="692560" indent="-346280" lvl="1">
              <a:lnSpc>
                <a:spcPts val="4490"/>
              </a:lnSpc>
              <a:spcBef>
                <a:spcPct val="0"/>
              </a:spcBef>
              <a:buFont typeface="Arial"/>
              <a:buChar char="•"/>
            </a:pPr>
            <a:r>
              <a:rPr lang="en-US" sz="3207">
                <a:solidFill>
                  <a:srgbClr val="000000"/>
                </a:solidFill>
                <a:latin typeface="Maven Pro"/>
                <a:ea typeface="Maven Pro"/>
                <a:cs typeface="Maven Pro"/>
                <a:sym typeface="Maven Pro"/>
              </a:rPr>
              <a:t>IJIRMPS (2025). Real-Time Detection of Malicious URLs Using Feature-Based ML.</a:t>
            </a:r>
          </a:p>
          <a:p>
            <a:pPr algn="l" marL="692560" indent="-346280" lvl="1">
              <a:lnSpc>
                <a:spcPts val="4490"/>
              </a:lnSpc>
              <a:spcBef>
                <a:spcPct val="0"/>
              </a:spcBef>
              <a:buFont typeface="Arial"/>
              <a:buChar char="•"/>
            </a:pPr>
            <a:r>
              <a:rPr lang="en-US" sz="3207">
                <a:solidFill>
                  <a:srgbClr val="000000"/>
                </a:solidFill>
                <a:latin typeface="Maven Pro"/>
                <a:ea typeface="Maven Pro"/>
                <a:cs typeface="Maven Pro"/>
                <a:sym typeface="Maven Pro"/>
              </a:rPr>
              <a:t>EDPB (2025). Al Privacy Risks.</a:t>
            </a:r>
          </a:p>
          <a:p>
            <a:pPr algn="l">
              <a:lnSpc>
                <a:spcPts val="4490"/>
              </a:lnSpc>
              <a:spcBef>
                <a:spcPct val="0"/>
              </a:spcBef>
            </a:pPr>
          </a:p>
        </p:txBody>
      </p:sp>
      <p:sp>
        <p:nvSpPr>
          <p:cNvPr name="TextBox 4" id="4"/>
          <p:cNvSpPr txBox="true"/>
          <p:nvPr/>
        </p:nvSpPr>
        <p:spPr>
          <a:xfrm rot="0">
            <a:off x="717248" y="1766130"/>
            <a:ext cx="8426752" cy="7300397"/>
          </a:xfrm>
          <a:prstGeom prst="rect">
            <a:avLst/>
          </a:prstGeom>
        </p:spPr>
        <p:txBody>
          <a:bodyPr anchor="t" rtlCol="false" tIns="0" lIns="0" bIns="0" rIns="0">
            <a:spAutoFit/>
          </a:bodyPr>
          <a:lstStyle/>
          <a:p>
            <a:pPr algn="l" marL="692560" indent="-346280" lvl="1">
              <a:lnSpc>
                <a:spcPts val="4490"/>
              </a:lnSpc>
              <a:spcBef>
                <a:spcPct val="0"/>
              </a:spcBef>
              <a:buFont typeface="Arial"/>
              <a:buChar char="•"/>
            </a:pPr>
            <a:r>
              <a:rPr lang="en-US" sz="3207">
                <a:solidFill>
                  <a:srgbClr val="000000"/>
                </a:solidFill>
                <a:latin typeface="Maven Pro"/>
                <a:ea typeface="Maven Pro"/>
                <a:cs typeface="Maven Pro"/>
                <a:sym typeface="Maven Pro"/>
              </a:rPr>
              <a:t>Zhou, S. et al. (2025). W</a:t>
            </a:r>
            <a:r>
              <a:rPr lang="en-US" sz="3207">
                <a:solidFill>
                  <a:srgbClr val="000000"/>
                </a:solidFill>
                <a:latin typeface="Maven Pro"/>
                <a:ea typeface="Maven Pro"/>
                <a:cs typeface="Maven Pro"/>
                <a:sym typeface="Maven Pro"/>
              </a:rPr>
              <a:t>ebArena Verified.</a:t>
            </a:r>
          </a:p>
          <a:p>
            <a:pPr algn="l" marL="692560" indent="-346280" lvl="1">
              <a:lnSpc>
                <a:spcPts val="4490"/>
              </a:lnSpc>
              <a:spcBef>
                <a:spcPct val="0"/>
              </a:spcBef>
              <a:buFont typeface="Arial"/>
              <a:buChar char="•"/>
            </a:pPr>
            <a:r>
              <a:rPr lang="en-US" sz="3207">
                <a:solidFill>
                  <a:srgbClr val="000000"/>
                </a:solidFill>
                <a:latin typeface="Maven Pro"/>
                <a:ea typeface="Maven Pro"/>
                <a:cs typeface="Maven Pro"/>
                <a:sym typeface="Maven Pro"/>
              </a:rPr>
              <a:t>Wang, L. et al. (2025). AgentVigil.</a:t>
            </a:r>
          </a:p>
          <a:p>
            <a:pPr algn="l" marL="692560" indent="-346280" lvl="1">
              <a:lnSpc>
                <a:spcPts val="4490"/>
              </a:lnSpc>
              <a:spcBef>
                <a:spcPct val="0"/>
              </a:spcBef>
              <a:buFont typeface="Arial"/>
              <a:buChar char="•"/>
            </a:pPr>
            <a:r>
              <a:rPr lang="en-US" sz="3207">
                <a:solidFill>
                  <a:srgbClr val="000000"/>
                </a:solidFill>
                <a:latin typeface="Maven Pro"/>
                <a:ea typeface="Maven Pro"/>
                <a:cs typeface="Maven Pro"/>
                <a:sym typeface="Maven Pro"/>
              </a:rPr>
              <a:t>Liu</a:t>
            </a:r>
            <a:r>
              <a:rPr lang="en-US" sz="3207">
                <a:solidFill>
                  <a:srgbClr val="000000"/>
                </a:solidFill>
                <a:latin typeface="Maven Pro"/>
                <a:ea typeface="Maven Pro"/>
                <a:cs typeface="Maven Pro"/>
                <a:sym typeface="Maven Pro"/>
              </a:rPr>
              <a:t>, Y. et al. (2025). LLM-based Agents Suffer from Hallucinations.</a:t>
            </a:r>
          </a:p>
          <a:p>
            <a:pPr algn="l" marL="692560" indent="-346280" lvl="1">
              <a:lnSpc>
                <a:spcPts val="4490"/>
              </a:lnSpc>
              <a:spcBef>
                <a:spcPct val="0"/>
              </a:spcBef>
              <a:buFont typeface="Arial"/>
              <a:buChar char="•"/>
            </a:pPr>
            <a:r>
              <a:rPr lang="en-US" sz="3207">
                <a:solidFill>
                  <a:srgbClr val="000000"/>
                </a:solidFill>
                <a:latin typeface="Maven Pro"/>
                <a:ea typeface="Maven Pro"/>
                <a:cs typeface="Maven Pro"/>
                <a:sym typeface="Maven Pro"/>
              </a:rPr>
              <a:t>Ku</a:t>
            </a:r>
            <a:r>
              <a:rPr lang="en-US" sz="3207">
                <a:solidFill>
                  <a:srgbClr val="000000"/>
                </a:solidFill>
                <a:latin typeface="Maven Pro"/>
                <a:ea typeface="Maven Pro"/>
                <a:cs typeface="Maven Pro"/>
                <a:sym typeface="Maven Pro"/>
              </a:rPr>
              <a:t>mar, A. et al. (2024). SCoRe.</a:t>
            </a:r>
          </a:p>
          <a:p>
            <a:pPr algn="l" marL="692560" indent="-346280" lvl="1">
              <a:lnSpc>
                <a:spcPts val="4490"/>
              </a:lnSpc>
              <a:spcBef>
                <a:spcPct val="0"/>
              </a:spcBef>
              <a:buFont typeface="Arial"/>
              <a:buChar char="•"/>
            </a:pPr>
            <a:r>
              <a:rPr lang="en-US" sz="3207">
                <a:solidFill>
                  <a:srgbClr val="000000"/>
                </a:solidFill>
                <a:latin typeface="Maven Pro"/>
                <a:ea typeface="Maven Pro"/>
                <a:cs typeface="Maven Pro"/>
                <a:sym typeface="Maven Pro"/>
              </a:rPr>
              <a:t>Zh</a:t>
            </a:r>
            <a:r>
              <a:rPr lang="en-US" sz="3207">
                <a:solidFill>
                  <a:srgbClr val="000000"/>
                </a:solidFill>
                <a:latin typeface="Maven Pro"/>
                <a:ea typeface="Maven Pro"/>
                <a:cs typeface="Maven Pro"/>
                <a:sym typeface="Maven Pro"/>
              </a:rPr>
              <a:t>ang, J. et al. (2024). R-Judge.</a:t>
            </a:r>
          </a:p>
          <a:p>
            <a:pPr algn="l" marL="692560" indent="-346280" lvl="1">
              <a:lnSpc>
                <a:spcPts val="4490"/>
              </a:lnSpc>
              <a:spcBef>
                <a:spcPct val="0"/>
              </a:spcBef>
              <a:buFont typeface="Arial"/>
              <a:buChar char="•"/>
            </a:pPr>
            <a:r>
              <a:rPr lang="en-US" sz="3207">
                <a:solidFill>
                  <a:srgbClr val="000000"/>
                </a:solidFill>
                <a:latin typeface="Maven Pro"/>
                <a:ea typeface="Maven Pro"/>
                <a:cs typeface="Maven Pro"/>
                <a:sym typeface="Maven Pro"/>
              </a:rPr>
              <a:t>Gou, Z. et al. (2024). CRITIC.</a:t>
            </a:r>
          </a:p>
          <a:p>
            <a:pPr algn="l" marL="692560" indent="-346280" lvl="1">
              <a:lnSpc>
                <a:spcPts val="4490"/>
              </a:lnSpc>
              <a:spcBef>
                <a:spcPct val="0"/>
              </a:spcBef>
              <a:buFont typeface="Arial"/>
              <a:buChar char="•"/>
            </a:pPr>
            <a:r>
              <a:rPr lang="en-US" sz="3207">
                <a:solidFill>
                  <a:srgbClr val="000000"/>
                </a:solidFill>
                <a:latin typeface="Maven Pro"/>
                <a:ea typeface="Maven Pro"/>
                <a:cs typeface="Maven Pro"/>
                <a:sym typeface="Maven Pro"/>
              </a:rPr>
              <a:t>Zheng, B. et al. (2024). SeeAct.</a:t>
            </a:r>
          </a:p>
          <a:p>
            <a:pPr algn="l" marL="692560" indent="-346280" lvl="1">
              <a:lnSpc>
                <a:spcPts val="4490"/>
              </a:lnSpc>
              <a:spcBef>
                <a:spcPct val="0"/>
              </a:spcBef>
              <a:buFont typeface="Arial"/>
              <a:buChar char="•"/>
            </a:pPr>
            <a:r>
              <a:rPr lang="en-US" sz="3207">
                <a:solidFill>
                  <a:srgbClr val="000000"/>
                </a:solidFill>
                <a:latin typeface="Maven Pro"/>
                <a:ea typeface="Maven Pro"/>
                <a:cs typeface="Maven Pro"/>
                <a:sym typeface="Maven Pro"/>
              </a:rPr>
              <a:t>Deng, X. et al. (2023). Mind2Web.</a:t>
            </a:r>
          </a:p>
          <a:p>
            <a:pPr algn="l" marL="692560" indent="-346280" lvl="1">
              <a:lnSpc>
                <a:spcPts val="4490"/>
              </a:lnSpc>
              <a:spcBef>
                <a:spcPct val="0"/>
              </a:spcBef>
              <a:buFont typeface="Arial"/>
              <a:buChar char="•"/>
            </a:pPr>
            <a:r>
              <a:rPr lang="en-US" sz="3207">
                <a:solidFill>
                  <a:srgbClr val="000000"/>
                </a:solidFill>
                <a:latin typeface="Maven Pro"/>
                <a:ea typeface="Maven Pro"/>
                <a:cs typeface="Maven Pro"/>
                <a:sym typeface="Maven Pro"/>
              </a:rPr>
              <a:t>Nandu, A. et al. (2025). Smart Detection of Malicious URLs Using a Hybrid Machine Learning Approach.</a:t>
            </a:r>
          </a:p>
          <a:p>
            <a:pPr algn="l">
              <a:lnSpc>
                <a:spcPts val="4490"/>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DAHEx8RzAXY</dc:identifier>
  <dcterms:modified xsi:type="dcterms:W3CDTF">2011-08-01T06:04:30Z</dcterms:modified>
  <cp:revision>1</cp:revision>
  <dc:title>Panel Review 2</dc:title>
</cp:coreProperties>
</file>